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png"/>
  <Override PartName="/ppt/media/image11.gif" ContentType="image/png"/>
  <Override PartName="/ppt/media/image12.gif" ContentType="image/png"/>
  <Override PartName="/ppt/media/image2.gif" ContentType="image/png"/>
  <Override PartName="/ppt/media/image3.gif" ContentType="image/png"/>
  <Override PartName="/ppt/media/image4.gif" ContentType="image/png"/>
  <Override PartName="/ppt/media/image5.jpg" ContentType="image/png"/>
  <Override PartName="/ppt/media/image6.gif" ContentType="image/pn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2" r:id="rId4"/>
    <p:sldId id="258" r:id="rId5"/>
    <p:sldId id="265" r:id="rId6"/>
    <p:sldId id="271" r:id="rId7"/>
    <p:sldId id="268" r:id="rId8"/>
    <p:sldId id="259" r:id="rId9"/>
    <p:sldId id="260" r:id="rId10"/>
    <p:sldId id="261" r:id="rId11"/>
    <p:sldId id="262" r:id="rId12"/>
    <p:sldId id="266" r:id="rId13"/>
    <p:sldId id="269" r:id="rId14"/>
    <p:sldId id="273" r:id="rId15"/>
    <p:sldId id="274" r:id="rId16"/>
    <p:sldId id="270" r:id="rId17"/>
  </p:sldIdLst>
  <p:sldSz cx="18288000" cy="10287000"/>
  <p:notesSz cx="6858000" cy="9144000"/>
  <p:embeddedFontLs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Open Sans Medium" panose="020B0604020202020204" charset="0"/>
      <p:regular r:id="rId22"/>
    </p:embeddedFont>
    <p:embeddedFont>
      <p:font typeface="Open Sauce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17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g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gi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ature.com/articles/s41467-022-31037-5%20Nature+1" TargetMode="External"/><Relationship Id="rId3" Type="http://schemas.openxmlformats.org/officeDocument/2006/relationships/hyperlink" Target="https://dl.acm.org/doi/10.1145/3529190.3534754%20ACM%20Digital%20Library+1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75925003-2CEA-19D2-DDFB-51F8C5C15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528504"/>
            <a:ext cx="10143000" cy="817984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5882727" y="38100"/>
            <a:ext cx="2405273" cy="732655"/>
            <a:chOff x="0" y="0"/>
            <a:chExt cx="633488" cy="1929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3488" cy="192963"/>
            </a:xfrm>
            <a:custGeom>
              <a:avLst/>
              <a:gdLst/>
              <a:ahLst/>
              <a:cxnLst/>
              <a:rect l="l" t="t" r="r" b="b"/>
              <a:pathLst>
                <a:path w="633488" h="192963">
                  <a:moveTo>
                    <a:pt x="0" y="0"/>
                  </a:moveTo>
                  <a:lnTo>
                    <a:pt x="633488" y="0"/>
                  </a:lnTo>
                  <a:lnTo>
                    <a:pt x="633488" y="192963"/>
                  </a:lnTo>
                  <a:lnTo>
                    <a:pt x="0" y="192963"/>
                  </a:lnTo>
                  <a:close/>
                </a:path>
              </a:pathLst>
            </a:custGeom>
            <a:solidFill>
              <a:srgbClr val="C2410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33488" cy="231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75546" y="1554094"/>
            <a:ext cx="6711054" cy="4985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Open Sauce Bold"/>
                <a:ea typeface="Open Sauce Bold"/>
                <a:cs typeface="Open Sauce Bold"/>
                <a:sym typeface="Open Sauce Bold"/>
              </a:rPr>
              <a:t>International Tourism Demand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Open Sauce Bold"/>
                <a:ea typeface="Open Sauce Bold"/>
                <a:cs typeface="Open Sauce Bold"/>
                <a:sym typeface="Open Sauce Bold"/>
              </a:rPr>
              <a:t>Forecasting Using Machine Learning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Open Sauce Bold"/>
                <a:ea typeface="Open Sauce Bold"/>
                <a:cs typeface="Open Sauce Bold"/>
                <a:sym typeface="Open Sauce Bold"/>
              </a:rPr>
              <a:t>A Production-Ready MLOps Framework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9600" y="8478793"/>
            <a:ext cx="2139517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Presented  by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3223" y="8892540"/>
            <a:ext cx="2598365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400" b="1" dirty="0">
                <a:latin typeface="Open Sans"/>
                <a:ea typeface="Open Sans"/>
                <a:cs typeface="Open Sans"/>
                <a:sym typeface="Open Sans"/>
              </a:rPr>
              <a:t>Waqas  |  Department of Computing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838073" y="8493841"/>
            <a:ext cx="3762001" cy="757067"/>
            <a:chOff x="600780" y="-18036"/>
            <a:chExt cx="5016001" cy="1009422"/>
          </a:xfrm>
        </p:grpSpPr>
        <p:sp>
          <p:nvSpPr>
            <p:cNvPr id="14" name="TextBox 14"/>
            <p:cNvSpPr txBox="1"/>
            <p:nvPr/>
          </p:nvSpPr>
          <p:spPr>
            <a:xfrm>
              <a:off x="600780" y="-18036"/>
              <a:ext cx="3632702" cy="4778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94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FF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Supervisor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04996" y="513562"/>
              <a:ext cx="4411785" cy="4778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940"/>
                </a:lnSpc>
                <a:spcBef>
                  <a:spcPct val="0"/>
                </a:spcBef>
              </a:pPr>
              <a:r>
                <a:rPr lang="en-US" sz="2400" b="1" dirty="0">
                  <a:latin typeface="Open Sans"/>
                  <a:ea typeface="Open Sans"/>
                  <a:cs typeface="Open Sans"/>
                  <a:sym typeface="Open Sans"/>
                </a:rPr>
                <a:t>=========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63767B7-D1E1-2286-1416-842A5BED2A32}"/>
              </a:ext>
            </a:extLst>
          </p:cNvPr>
          <p:cNvGrpSpPr/>
          <p:nvPr/>
        </p:nvGrpSpPr>
        <p:grpSpPr>
          <a:xfrm>
            <a:off x="0" y="38100"/>
            <a:ext cx="4048200" cy="732655"/>
            <a:chOff x="0" y="821440"/>
            <a:chExt cx="4048200" cy="732655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821440"/>
              <a:ext cx="4048200" cy="732655"/>
              <a:chOff x="0" y="0"/>
              <a:chExt cx="1066193" cy="19296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066193" cy="192963"/>
              </a:xfrm>
              <a:custGeom>
                <a:avLst/>
                <a:gdLst/>
                <a:ahLst/>
                <a:cxnLst/>
                <a:rect l="l" t="t" r="r" b="b"/>
                <a:pathLst>
                  <a:path w="1066193" h="192963">
                    <a:moveTo>
                      <a:pt x="0" y="0"/>
                    </a:moveTo>
                    <a:lnTo>
                      <a:pt x="1066193" y="0"/>
                    </a:lnTo>
                    <a:lnTo>
                      <a:pt x="1066193" y="192963"/>
                    </a:lnTo>
                    <a:lnTo>
                      <a:pt x="0" y="19296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066193" cy="2310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028700" y="998605"/>
              <a:ext cx="2812323" cy="3484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Ulster University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882727" y="215265"/>
            <a:ext cx="13765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82727" y="38100"/>
            <a:ext cx="2405273" cy="732655"/>
            <a:chOff x="0" y="0"/>
            <a:chExt cx="633488" cy="1929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3488" cy="192963"/>
            </a:xfrm>
            <a:custGeom>
              <a:avLst/>
              <a:gdLst/>
              <a:ahLst/>
              <a:cxnLst/>
              <a:rect l="l" t="t" r="r" b="b"/>
              <a:pathLst>
                <a:path w="633488" h="192963">
                  <a:moveTo>
                    <a:pt x="0" y="0"/>
                  </a:moveTo>
                  <a:lnTo>
                    <a:pt x="633488" y="0"/>
                  </a:lnTo>
                  <a:lnTo>
                    <a:pt x="633488" y="192963"/>
                  </a:lnTo>
                  <a:lnTo>
                    <a:pt x="0" y="192963"/>
                  </a:lnTo>
                  <a:close/>
                </a:path>
              </a:pathLst>
            </a:custGeom>
            <a:solidFill>
              <a:srgbClr val="C2410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33488" cy="231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499860" y="128225"/>
            <a:ext cx="7505700" cy="929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400" y="1082404"/>
            <a:ext cx="12039600" cy="8785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International tourism contributes ~10% of global GDP and over 330 million jobs worldwide</a:t>
            </a:r>
          </a:p>
          <a:p>
            <a:pPr marL="571500" indent="-5715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Accurate arrivals forecasting is critical for governments, tourism boards, and economic planners</a:t>
            </a:r>
          </a:p>
          <a:p>
            <a:pPr marL="571500" indent="-5715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Arrivals are driven by GDP growth, exchange rates, geopolitics, airline connectivity, and pandemics</a:t>
            </a:r>
          </a:p>
          <a:p>
            <a:pPr marL="571500" indent="-5715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Traditional ARIMA models fail to capture nonlinear dynamics and structural breaks (COVID-19, SARS)</a:t>
            </a:r>
          </a:p>
          <a:p>
            <a:pPr marL="571500" indent="-5715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World Bank provides 25 years of verified data across 200+ countries (1999–2023)</a:t>
            </a:r>
          </a:p>
          <a:p>
            <a:pPr marL="571500" indent="-5715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Most ML studies stop at the notebook — no production deployment or real-time monitoring exists</a:t>
            </a:r>
          </a:p>
          <a:p>
            <a:pPr marL="571500" indent="-5715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study delivers both: state-of-the-art ML forecasting AND a complete MLOps pipeline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236605"/>
            <a:ext cx="281232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Giggling Platypus Co.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882727" y="236605"/>
            <a:ext cx="13765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Page 02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6230600" y="9610221"/>
            <a:ext cx="1252808" cy="257408"/>
            <a:chOff x="0" y="0"/>
            <a:chExt cx="1670411" cy="34321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343210" cy="343210"/>
              <a:chOff x="0" y="0"/>
              <a:chExt cx="67795" cy="6779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7795" cy="67795"/>
              </a:xfrm>
              <a:custGeom>
                <a:avLst/>
                <a:gdLst/>
                <a:ahLst/>
                <a:cxnLst/>
                <a:rect l="l" t="t" r="r" b="b"/>
                <a:pathLst>
                  <a:path w="67795" h="67795">
                    <a:moveTo>
                      <a:pt x="0" y="0"/>
                    </a:moveTo>
                    <a:lnTo>
                      <a:pt x="67795" y="0"/>
                    </a:lnTo>
                    <a:lnTo>
                      <a:pt x="67795" y="67795"/>
                    </a:lnTo>
                    <a:lnTo>
                      <a:pt x="0" y="67795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67795" cy="1058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63600" y="0"/>
              <a:ext cx="343210" cy="343210"/>
              <a:chOff x="0" y="0"/>
              <a:chExt cx="67795" cy="6779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7795" cy="67795"/>
              </a:xfrm>
              <a:custGeom>
                <a:avLst/>
                <a:gdLst/>
                <a:ahLst/>
                <a:cxnLst/>
                <a:rect l="l" t="t" r="r" b="b"/>
                <a:pathLst>
                  <a:path w="67795" h="67795">
                    <a:moveTo>
                      <a:pt x="0" y="0"/>
                    </a:moveTo>
                    <a:lnTo>
                      <a:pt x="67795" y="0"/>
                    </a:lnTo>
                    <a:lnTo>
                      <a:pt x="67795" y="67795"/>
                    </a:lnTo>
                    <a:lnTo>
                      <a:pt x="0" y="67795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67795" cy="1058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327200" y="0"/>
              <a:ext cx="343210" cy="343210"/>
              <a:chOff x="0" y="0"/>
              <a:chExt cx="67795" cy="6779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7795" cy="67795"/>
              </a:xfrm>
              <a:custGeom>
                <a:avLst/>
                <a:gdLst/>
                <a:ahLst/>
                <a:cxnLst/>
                <a:rect l="l" t="t" r="r" b="b"/>
                <a:pathLst>
                  <a:path w="67795" h="67795">
                    <a:moveTo>
                      <a:pt x="0" y="0"/>
                    </a:moveTo>
                    <a:lnTo>
                      <a:pt x="67795" y="0"/>
                    </a:lnTo>
                    <a:lnTo>
                      <a:pt x="67795" y="67795"/>
                    </a:lnTo>
                    <a:lnTo>
                      <a:pt x="0" y="67795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67795" cy="1058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9B9F25B-685D-8751-D5D9-45F7668DE162}"/>
              </a:ext>
            </a:extLst>
          </p:cNvPr>
          <p:cNvGrpSpPr/>
          <p:nvPr/>
        </p:nvGrpSpPr>
        <p:grpSpPr>
          <a:xfrm>
            <a:off x="0" y="-77216"/>
            <a:ext cx="4048200" cy="877316"/>
            <a:chOff x="0" y="676779"/>
            <a:chExt cx="4048200" cy="877316"/>
          </a:xfrm>
        </p:grpSpPr>
        <p:grpSp>
          <p:nvGrpSpPr>
            <p:cNvPr id="34" name="Group 6">
              <a:extLst>
                <a:ext uri="{FF2B5EF4-FFF2-40B4-BE49-F238E27FC236}">
                  <a16:creationId xmlns:a16="http://schemas.microsoft.com/office/drawing/2014/main" id="{F4E9116D-2128-DE71-6EE7-F98A888B2D7B}"/>
                </a:ext>
              </a:extLst>
            </p:cNvPr>
            <p:cNvGrpSpPr/>
            <p:nvPr/>
          </p:nvGrpSpPr>
          <p:grpSpPr>
            <a:xfrm>
              <a:off x="0" y="676779"/>
              <a:ext cx="4048200" cy="877316"/>
              <a:chOff x="0" y="-38100"/>
              <a:chExt cx="1066193" cy="231063"/>
            </a:xfrm>
          </p:grpSpPr>
          <p:sp>
            <p:nvSpPr>
              <p:cNvPr id="36" name="Freeform 7">
                <a:extLst>
                  <a:ext uri="{FF2B5EF4-FFF2-40B4-BE49-F238E27FC236}">
                    <a16:creationId xmlns:a16="http://schemas.microsoft.com/office/drawing/2014/main" id="{D3D48BC3-9305-400E-9D71-B2F13A749479}"/>
                  </a:ext>
                </a:extLst>
              </p:cNvPr>
              <p:cNvSpPr/>
              <p:nvPr/>
            </p:nvSpPr>
            <p:spPr>
              <a:xfrm>
                <a:off x="0" y="-7729"/>
                <a:ext cx="1066193" cy="192963"/>
              </a:xfrm>
              <a:custGeom>
                <a:avLst/>
                <a:gdLst/>
                <a:ahLst/>
                <a:cxnLst/>
                <a:rect l="l" t="t" r="r" b="b"/>
                <a:pathLst>
                  <a:path w="1066193" h="192963">
                    <a:moveTo>
                      <a:pt x="0" y="0"/>
                    </a:moveTo>
                    <a:lnTo>
                      <a:pt x="1066193" y="0"/>
                    </a:lnTo>
                    <a:lnTo>
                      <a:pt x="1066193" y="192963"/>
                    </a:lnTo>
                    <a:lnTo>
                      <a:pt x="0" y="19296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" name="TextBox 8">
                <a:extLst>
                  <a:ext uri="{FF2B5EF4-FFF2-40B4-BE49-F238E27FC236}">
                    <a16:creationId xmlns:a16="http://schemas.microsoft.com/office/drawing/2014/main" id="{DC2E9FE9-7F3A-F0F7-DF00-02330DDBAA0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066193" cy="2310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35" name="TextBox 16">
              <a:extLst>
                <a:ext uri="{FF2B5EF4-FFF2-40B4-BE49-F238E27FC236}">
                  <a16:creationId xmlns:a16="http://schemas.microsoft.com/office/drawing/2014/main" id="{FD8A8DD6-2392-7AF9-4170-CFC289C7BCD0}"/>
                </a:ext>
              </a:extLst>
            </p:cNvPr>
            <p:cNvSpPr txBox="1"/>
            <p:nvPr/>
          </p:nvSpPr>
          <p:spPr>
            <a:xfrm>
              <a:off x="1028700" y="990600"/>
              <a:ext cx="281232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Ulster University</a:t>
              </a: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219483FB-3B29-CA0D-3235-B3A8BB40A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0600" y="1409700"/>
            <a:ext cx="5722985" cy="41624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8FBA3-E63B-2968-DD03-E30485A80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41E65517-2C0B-18EE-5E86-01B7CA0305F5}"/>
              </a:ext>
            </a:extLst>
          </p:cNvPr>
          <p:cNvSpPr txBox="1"/>
          <p:nvPr/>
        </p:nvSpPr>
        <p:spPr>
          <a:xfrm>
            <a:off x="5076899" y="128225"/>
            <a:ext cx="10805827" cy="929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C73A1AF-2909-07E2-5505-C8FD64E1D326}"/>
              </a:ext>
            </a:extLst>
          </p:cNvPr>
          <p:cNvSpPr txBox="1"/>
          <p:nvPr/>
        </p:nvSpPr>
        <p:spPr>
          <a:xfrm>
            <a:off x="228600" y="1082405"/>
            <a:ext cx="11799307" cy="8863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Tourism arrivals are influenced by complex, nonlinear, multi-factorial relationships</a:t>
            </a:r>
          </a:p>
          <a:p>
            <a:pPr marL="571500" indent="-5715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Synthetic datasets yield near-random accuracy (~25%) — real-world data is essential</a:t>
            </a:r>
          </a:p>
          <a:p>
            <a:pPr marL="571500" indent="-5715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Traditional econometric models (ARIMA, gravity) fail on structural breaks like COVID-19</a:t>
            </a:r>
          </a:p>
          <a:p>
            <a:pPr marL="571500" indent="-5715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2020 COVID-19 shock caused a 73% global arrivals collapse — a rare out-of-distribution event</a:t>
            </a:r>
          </a:p>
          <a:p>
            <a:pPr marL="571500" indent="-5715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Existing ML tourism studies lack production deployment, monitoring, and operational runbooks</a:t>
            </a:r>
          </a:p>
          <a:p>
            <a:pPr marL="571500" indent="-5715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End-to-end MLOps frameworks for tourism forecasting are absent from the academic literature</a:t>
            </a:r>
          </a:p>
          <a:p>
            <a:pPr marL="571500" indent="-5715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Solution: Combine 25-year World Bank panel data + ML engineering + full production MLOps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D6BC8A5-DB1C-7A41-E85E-1785910D39FD}"/>
              </a:ext>
            </a:extLst>
          </p:cNvPr>
          <p:cNvSpPr txBox="1"/>
          <p:nvPr/>
        </p:nvSpPr>
        <p:spPr>
          <a:xfrm>
            <a:off x="1028700" y="236605"/>
            <a:ext cx="281232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Giggling Platypus Co.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0E9C2CD-B75D-AF60-12E2-ABEA5ABEF232}"/>
              </a:ext>
            </a:extLst>
          </p:cNvPr>
          <p:cNvGrpSpPr/>
          <p:nvPr/>
        </p:nvGrpSpPr>
        <p:grpSpPr>
          <a:xfrm>
            <a:off x="15882727" y="38100"/>
            <a:ext cx="2405273" cy="732655"/>
            <a:chOff x="15882727" y="67445"/>
            <a:chExt cx="2405273" cy="732655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CA1B4DE0-978A-4CC9-B3F0-E832C5C63093}"/>
                </a:ext>
              </a:extLst>
            </p:cNvPr>
            <p:cNvGrpSpPr/>
            <p:nvPr/>
          </p:nvGrpSpPr>
          <p:grpSpPr>
            <a:xfrm>
              <a:off x="15882727" y="67445"/>
              <a:ext cx="2405273" cy="732655"/>
              <a:chOff x="0" y="0"/>
              <a:chExt cx="633488" cy="19296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F1B3245A-6052-0E3D-38C4-1FB583D01BB9}"/>
                  </a:ext>
                </a:extLst>
              </p:cNvPr>
              <p:cNvSpPr/>
              <p:nvPr/>
            </p:nvSpPr>
            <p:spPr>
              <a:xfrm>
                <a:off x="0" y="0"/>
                <a:ext cx="633488" cy="192963"/>
              </a:xfrm>
              <a:custGeom>
                <a:avLst/>
                <a:gdLst/>
                <a:ahLst/>
                <a:cxnLst/>
                <a:rect l="l" t="t" r="r" b="b"/>
                <a:pathLst>
                  <a:path w="633488" h="192963">
                    <a:moveTo>
                      <a:pt x="0" y="0"/>
                    </a:moveTo>
                    <a:lnTo>
                      <a:pt x="633488" y="0"/>
                    </a:lnTo>
                    <a:lnTo>
                      <a:pt x="633488" y="192963"/>
                    </a:lnTo>
                    <a:lnTo>
                      <a:pt x="0" y="19296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2D21E0F7-B62F-2B72-AABC-E1D32E5BD25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33488" cy="2310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9990F7E2-0C1C-CFA8-D297-D77F426DB5BF}"/>
                </a:ext>
              </a:extLst>
            </p:cNvPr>
            <p:cNvSpPr txBox="1"/>
            <p:nvPr/>
          </p:nvSpPr>
          <p:spPr>
            <a:xfrm>
              <a:off x="15882727" y="236605"/>
              <a:ext cx="137657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Page 03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725AC4AF-667F-706D-E0CE-A0610711ACF7}"/>
              </a:ext>
            </a:extLst>
          </p:cNvPr>
          <p:cNvGrpSpPr/>
          <p:nvPr/>
        </p:nvGrpSpPr>
        <p:grpSpPr>
          <a:xfrm>
            <a:off x="16230600" y="9610221"/>
            <a:ext cx="1252808" cy="257408"/>
            <a:chOff x="0" y="0"/>
            <a:chExt cx="1670411" cy="343210"/>
          </a:xfrm>
        </p:grpSpPr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0DAEA292-F3D4-FF83-22E3-AECFF9453332}"/>
                </a:ext>
              </a:extLst>
            </p:cNvPr>
            <p:cNvGrpSpPr/>
            <p:nvPr/>
          </p:nvGrpSpPr>
          <p:grpSpPr>
            <a:xfrm>
              <a:off x="0" y="0"/>
              <a:ext cx="343210" cy="343210"/>
              <a:chOff x="0" y="0"/>
              <a:chExt cx="67795" cy="67795"/>
            </a:xfrm>
          </p:grpSpPr>
          <p:sp>
            <p:nvSpPr>
              <p:cNvPr id="18" name="Freeform 18">
                <a:extLst>
                  <a:ext uri="{FF2B5EF4-FFF2-40B4-BE49-F238E27FC236}">
                    <a16:creationId xmlns:a16="http://schemas.microsoft.com/office/drawing/2014/main" id="{47D58ABD-3B3F-8CE0-7156-D956582B77A0}"/>
                  </a:ext>
                </a:extLst>
              </p:cNvPr>
              <p:cNvSpPr/>
              <p:nvPr/>
            </p:nvSpPr>
            <p:spPr>
              <a:xfrm>
                <a:off x="0" y="0"/>
                <a:ext cx="67795" cy="67795"/>
              </a:xfrm>
              <a:custGeom>
                <a:avLst/>
                <a:gdLst/>
                <a:ahLst/>
                <a:cxnLst/>
                <a:rect l="l" t="t" r="r" b="b"/>
                <a:pathLst>
                  <a:path w="67795" h="67795">
                    <a:moveTo>
                      <a:pt x="0" y="0"/>
                    </a:moveTo>
                    <a:lnTo>
                      <a:pt x="67795" y="0"/>
                    </a:lnTo>
                    <a:lnTo>
                      <a:pt x="67795" y="67795"/>
                    </a:lnTo>
                    <a:lnTo>
                      <a:pt x="0" y="67795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TextBox 19">
                <a:extLst>
                  <a:ext uri="{FF2B5EF4-FFF2-40B4-BE49-F238E27FC236}">
                    <a16:creationId xmlns:a16="http://schemas.microsoft.com/office/drawing/2014/main" id="{896F7D0B-777E-D64E-347D-456AED5B959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7795" cy="1058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0" name="Group 20">
              <a:extLst>
                <a:ext uri="{FF2B5EF4-FFF2-40B4-BE49-F238E27FC236}">
                  <a16:creationId xmlns:a16="http://schemas.microsoft.com/office/drawing/2014/main" id="{0319EAA5-55A4-3D3D-F508-B770EF80A37E}"/>
                </a:ext>
              </a:extLst>
            </p:cNvPr>
            <p:cNvGrpSpPr/>
            <p:nvPr/>
          </p:nvGrpSpPr>
          <p:grpSpPr>
            <a:xfrm>
              <a:off x="663600" y="0"/>
              <a:ext cx="343210" cy="343210"/>
              <a:chOff x="0" y="0"/>
              <a:chExt cx="67795" cy="67795"/>
            </a:xfrm>
          </p:grpSpPr>
          <p:sp>
            <p:nvSpPr>
              <p:cNvPr id="21" name="Freeform 21">
                <a:extLst>
                  <a:ext uri="{FF2B5EF4-FFF2-40B4-BE49-F238E27FC236}">
                    <a16:creationId xmlns:a16="http://schemas.microsoft.com/office/drawing/2014/main" id="{81F47481-68F2-FBB3-A58D-9673E26265D6}"/>
                  </a:ext>
                </a:extLst>
              </p:cNvPr>
              <p:cNvSpPr/>
              <p:nvPr/>
            </p:nvSpPr>
            <p:spPr>
              <a:xfrm>
                <a:off x="0" y="0"/>
                <a:ext cx="67795" cy="67795"/>
              </a:xfrm>
              <a:custGeom>
                <a:avLst/>
                <a:gdLst/>
                <a:ahLst/>
                <a:cxnLst/>
                <a:rect l="l" t="t" r="r" b="b"/>
                <a:pathLst>
                  <a:path w="67795" h="67795">
                    <a:moveTo>
                      <a:pt x="0" y="0"/>
                    </a:moveTo>
                    <a:lnTo>
                      <a:pt x="67795" y="0"/>
                    </a:lnTo>
                    <a:lnTo>
                      <a:pt x="67795" y="67795"/>
                    </a:lnTo>
                    <a:lnTo>
                      <a:pt x="0" y="67795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TextBox 22">
                <a:extLst>
                  <a:ext uri="{FF2B5EF4-FFF2-40B4-BE49-F238E27FC236}">
                    <a16:creationId xmlns:a16="http://schemas.microsoft.com/office/drawing/2014/main" id="{A27C7454-5B44-E92D-0EE5-FCBC8EBB6FC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7795" cy="1058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3" name="Group 23">
              <a:extLst>
                <a:ext uri="{FF2B5EF4-FFF2-40B4-BE49-F238E27FC236}">
                  <a16:creationId xmlns:a16="http://schemas.microsoft.com/office/drawing/2014/main" id="{323B0771-01FB-430B-CB84-F7A5D26DCA05}"/>
                </a:ext>
              </a:extLst>
            </p:cNvPr>
            <p:cNvGrpSpPr/>
            <p:nvPr/>
          </p:nvGrpSpPr>
          <p:grpSpPr>
            <a:xfrm>
              <a:off x="1327200" y="0"/>
              <a:ext cx="343210" cy="343210"/>
              <a:chOff x="0" y="0"/>
              <a:chExt cx="67795" cy="67795"/>
            </a:xfrm>
          </p:grpSpPr>
          <p:sp>
            <p:nvSpPr>
              <p:cNvPr id="24" name="Freeform 24">
                <a:extLst>
                  <a:ext uri="{FF2B5EF4-FFF2-40B4-BE49-F238E27FC236}">
                    <a16:creationId xmlns:a16="http://schemas.microsoft.com/office/drawing/2014/main" id="{E3437532-8F70-078F-6105-E8FEC3BE35B6}"/>
                  </a:ext>
                </a:extLst>
              </p:cNvPr>
              <p:cNvSpPr/>
              <p:nvPr/>
            </p:nvSpPr>
            <p:spPr>
              <a:xfrm>
                <a:off x="0" y="0"/>
                <a:ext cx="67795" cy="67795"/>
              </a:xfrm>
              <a:custGeom>
                <a:avLst/>
                <a:gdLst/>
                <a:ahLst/>
                <a:cxnLst/>
                <a:rect l="l" t="t" r="r" b="b"/>
                <a:pathLst>
                  <a:path w="67795" h="67795">
                    <a:moveTo>
                      <a:pt x="0" y="0"/>
                    </a:moveTo>
                    <a:lnTo>
                      <a:pt x="67795" y="0"/>
                    </a:lnTo>
                    <a:lnTo>
                      <a:pt x="67795" y="67795"/>
                    </a:lnTo>
                    <a:lnTo>
                      <a:pt x="0" y="67795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TextBox 25">
                <a:extLst>
                  <a:ext uri="{FF2B5EF4-FFF2-40B4-BE49-F238E27FC236}">
                    <a16:creationId xmlns:a16="http://schemas.microsoft.com/office/drawing/2014/main" id="{4C53C024-00BF-ED4B-BB0E-1F2390D64A9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7795" cy="1058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4470A44-566C-2906-88BC-C9FFFF6A0BDD}"/>
              </a:ext>
            </a:extLst>
          </p:cNvPr>
          <p:cNvGrpSpPr/>
          <p:nvPr/>
        </p:nvGrpSpPr>
        <p:grpSpPr>
          <a:xfrm>
            <a:off x="0" y="38100"/>
            <a:ext cx="4048200" cy="732655"/>
            <a:chOff x="0" y="821440"/>
            <a:chExt cx="4048200" cy="732655"/>
          </a:xfrm>
        </p:grpSpPr>
        <p:grpSp>
          <p:nvGrpSpPr>
            <p:cNvPr id="34" name="Group 6">
              <a:extLst>
                <a:ext uri="{FF2B5EF4-FFF2-40B4-BE49-F238E27FC236}">
                  <a16:creationId xmlns:a16="http://schemas.microsoft.com/office/drawing/2014/main" id="{2BAC62DF-3523-D02C-0B9C-2B3E4787E6DF}"/>
                </a:ext>
              </a:extLst>
            </p:cNvPr>
            <p:cNvGrpSpPr/>
            <p:nvPr/>
          </p:nvGrpSpPr>
          <p:grpSpPr>
            <a:xfrm>
              <a:off x="0" y="821440"/>
              <a:ext cx="4048200" cy="732655"/>
              <a:chOff x="0" y="0"/>
              <a:chExt cx="1066193" cy="192963"/>
            </a:xfrm>
          </p:grpSpPr>
          <p:sp>
            <p:nvSpPr>
              <p:cNvPr id="36" name="Freeform 7">
                <a:extLst>
                  <a:ext uri="{FF2B5EF4-FFF2-40B4-BE49-F238E27FC236}">
                    <a16:creationId xmlns:a16="http://schemas.microsoft.com/office/drawing/2014/main" id="{4842FBAF-325B-5161-441A-20B4626DD9CD}"/>
                  </a:ext>
                </a:extLst>
              </p:cNvPr>
              <p:cNvSpPr/>
              <p:nvPr/>
            </p:nvSpPr>
            <p:spPr>
              <a:xfrm>
                <a:off x="0" y="0"/>
                <a:ext cx="1066193" cy="192963"/>
              </a:xfrm>
              <a:custGeom>
                <a:avLst/>
                <a:gdLst/>
                <a:ahLst/>
                <a:cxnLst/>
                <a:rect l="l" t="t" r="r" b="b"/>
                <a:pathLst>
                  <a:path w="1066193" h="192963">
                    <a:moveTo>
                      <a:pt x="0" y="0"/>
                    </a:moveTo>
                    <a:lnTo>
                      <a:pt x="1066193" y="0"/>
                    </a:lnTo>
                    <a:lnTo>
                      <a:pt x="1066193" y="192963"/>
                    </a:lnTo>
                    <a:lnTo>
                      <a:pt x="0" y="19296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" name="TextBox 8">
                <a:extLst>
                  <a:ext uri="{FF2B5EF4-FFF2-40B4-BE49-F238E27FC236}">
                    <a16:creationId xmlns:a16="http://schemas.microsoft.com/office/drawing/2014/main" id="{CFF28A41-6373-6438-ABED-AD4037D3AE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066193" cy="2310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35" name="TextBox 16">
              <a:extLst>
                <a:ext uri="{FF2B5EF4-FFF2-40B4-BE49-F238E27FC236}">
                  <a16:creationId xmlns:a16="http://schemas.microsoft.com/office/drawing/2014/main" id="{D38A5415-DD72-E48B-C55C-0BDFE97A617D}"/>
                </a:ext>
              </a:extLst>
            </p:cNvPr>
            <p:cNvSpPr txBox="1"/>
            <p:nvPr/>
          </p:nvSpPr>
          <p:spPr>
            <a:xfrm>
              <a:off x="1028700" y="990600"/>
              <a:ext cx="281232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Ulster University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132EB58-30DF-C686-4B2D-63AB74FB1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8200" y="1374822"/>
            <a:ext cx="5704036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66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1257300"/>
            <a:ext cx="18288000" cy="5592078"/>
            <a:chOff x="0" y="0"/>
            <a:chExt cx="4816593" cy="12844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1284404"/>
            </a:xfrm>
            <a:custGeom>
              <a:avLst/>
              <a:gdLst/>
              <a:ahLst/>
              <a:cxnLst/>
              <a:rect l="l" t="t" r="r" b="b"/>
              <a:pathLst>
                <a:path w="4816592" h="1284404">
                  <a:moveTo>
                    <a:pt x="0" y="0"/>
                  </a:moveTo>
                  <a:lnTo>
                    <a:pt x="4816592" y="0"/>
                  </a:lnTo>
                  <a:lnTo>
                    <a:pt x="4816592" y="1284404"/>
                  </a:lnTo>
                  <a:lnTo>
                    <a:pt x="0" y="12844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6593" cy="1322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41356" y="2824445"/>
            <a:ext cx="5903935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RESEARCH OBJECTIVES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85800" y="6479350"/>
            <a:ext cx="740055" cy="740055"/>
            <a:chOff x="0" y="0"/>
            <a:chExt cx="194912" cy="19491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4912" cy="194912"/>
            </a:xfrm>
            <a:custGeom>
              <a:avLst/>
              <a:gdLst/>
              <a:ahLst/>
              <a:cxnLst/>
              <a:rect l="l" t="t" r="r" b="b"/>
              <a:pathLst>
                <a:path w="194912" h="194912">
                  <a:moveTo>
                    <a:pt x="0" y="0"/>
                  </a:moveTo>
                  <a:lnTo>
                    <a:pt x="194912" y="0"/>
                  </a:lnTo>
                  <a:lnTo>
                    <a:pt x="194912" y="194912"/>
                  </a:lnTo>
                  <a:lnTo>
                    <a:pt x="0" y="194912"/>
                  </a:lnTo>
                  <a:close/>
                </a:path>
              </a:pathLst>
            </a:custGeom>
            <a:solidFill>
              <a:srgbClr val="C2410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94912" cy="233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62000" y="6652210"/>
            <a:ext cx="59209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5800" y="7561722"/>
            <a:ext cx="5096608" cy="1951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3200" b="1" dirty="0"/>
              <a:t>Collect and preprocess 25 years of World Bank tourism data spanning 200+ countries. Apply log-normalisation, median imputation, and lag-based temporal feature engineering to produce 3,091 clean records.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498945" y="6479350"/>
            <a:ext cx="740055" cy="740055"/>
            <a:chOff x="0" y="0"/>
            <a:chExt cx="194912" cy="19491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4912" cy="194912"/>
            </a:xfrm>
            <a:custGeom>
              <a:avLst/>
              <a:gdLst/>
              <a:ahLst/>
              <a:cxnLst/>
              <a:rect l="l" t="t" r="r" b="b"/>
              <a:pathLst>
                <a:path w="194912" h="194912">
                  <a:moveTo>
                    <a:pt x="0" y="0"/>
                  </a:moveTo>
                  <a:lnTo>
                    <a:pt x="194912" y="0"/>
                  </a:lnTo>
                  <a:lnTo>
                    <a:pt x="194912" y="194912"/>
                  </a:lnTo>
                  <a:lnTo>
                    <a:pt x="0" y="194912"/>
                  </a:lnTo>
                  <a:close/>
                </a:path>
              </a:pathLst>
            </a:custGeom>
            <a:solidFill>
              <a:srgbClr val="C2410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94912" cy="233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553200" y="6652210"/>
            <a:ext cx="59209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67815" y="7557795"/>
            <a:ext cx="5423306" cy="2244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Train and rigorously benchmark three regression models — Ridge Regression, Gradient Boosting Regressor, and Random Forest Regressor — evaluating on R², RMSE, and MAE using an 80/20 held-out test split.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573000" y="6479350"/>
            <a:ext cx="740055" cy="740055"/>
            <a:chOff x="0" y="0"/>
            <a:chExt cx="194912" cy="19491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94912" cy="194912"/>
            </a:xfrm>
            <a:custGeom>
              <a:avLst/>
              <a:gdLst/>
              <a:ahLst/>
              <a:cxnLst/>
              <a:rect l="l" t="t" r="r" b="b"/>
              <a:pathLst>
                <a:path w="194912" h="194912">
                  <a:moveTo>
                    <a:pt x="0" y="0"/>
                  </a:moveTo>
                  <a:lnTo>
                    <a:pt x="194912" y="0"/>
                  </a:lnTo>
                  <a:lnTo>
                    <a:pt x="194912" y="194912"/>
                  </a:lnTo>
                  <a:lnTo>
                    <a:pt x="0" y="194912"/>
                  </a:lnTo>
                  <a:close/>
                </a:path>
              </a:pathLst>
            </a:custGeom>
            <a:solidFill>
              <a:srgbClr val="C2410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94912" cy="233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666709" y="6652210"/>
            <a:ext cx="59209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576528" y="7561465"/>
            <a:ext cx="5270904" cy="19518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Deploy a production-grade MLOps pipeline: FastAPI inference → Docker containerisation → GitHub Actions CI/CD → AWS ECS Fargate → Prometheus + Grafana real-time monitoring with automated alerts.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1C9338A-CEC5-5853-2794-E63C4A19944D}"/>
              </a:ext>
            </a:extLst>
          </p:cNvPr>
          <p:cNvGrpSpPr/>
          <p:nvPr/>
        </p:nvGrpSpPr>
        <p:grpSpPr>
          <a:xfrm>
            <a:off x="0" y="38100"/>
            <a:ext cx="4048200" cy="732655"/>
            <a:chOff x="0" y="821440"/>
            <a:chExt cx="4048200" cy="732655"/>
          </a:xfrm>
        </p:grpSpPr>
        <p:grpSp>
          <p:nvGrpSpPr>
            <p:cNvPr id="39" name="Group 6">
              <a:extLst>
                <a:ext uri="{FF2B5EF4-FFF2-40B4-BE49-F238E27FC236}">
                  <a16:creationId xmlns:a16="http://schemas.microsoft.com/office/drawing/2014/main" id="{00FF717F-AFEE-EF1C-A144-851D66B354FC}"/>
                </a:ext>
              </a:extLst>
            </p:cNvPr>
            <p:cNvGrpSpPr/>
            <p:nvPr/>
          </p:nvGrpSpPr>
          <p:grpSpPr>
            <a:xfrm>
              <a:off x="0" y="821440"/>
              <a:ext cx="4048200" cy="732655"/>
              <a:chOff x="0" y="0"/>
              <a:chExt cx="1066193" cy="192963"/>
            </a:xfrm>
          </p:grpSpPr>
          <p:sp>
            <p:nvSpPr>
              <p:cNvPr id="41" name="Freeform 7">
                <a:extLst>
                  <a:ext uri="{FF2B5EF4-FFF2-40B4-BE49-F238E27FC236}">
                    <a16:creationId xmlns:a16="http://schemas.microsoft.com/office/drawing/2014/main" id="{57571F0E-A8B9-48A0-0453-0990DD7FABA9}"/>
                  </a:ext>
                </a:extLst>
              </p:cNvPr>
              <p:cNvSpPr/>
              <p:nvPr/>
            </p:nvSpPr>
            <p:spPr>
              <a:xfrm>
                <a:off x="0" y="0"/>
                <a:ext cx="1066193" cy="192963"/>
              </a:xfrm>
              <a:custGeom>
                <a:avLst/>
                <a:gdLst/>
                <a:ahLst/>
                <a:cxnLst/>
                <a:rect l="l" t="t" r="r" b="b"/>
                <a:pathLst>
                  <a:path w="1066193" h="192963">
                    <a:moveTo>
                      <a:pt x="0" y="0"/>
                    </a:moveTo>
                    <a:lnTo>
                      <a:pt x="1066193" y="0"/>
                    </a:lnTo>
                    <a:lnTo>
                      <a:pt x="1066193" y="192963"/>
                    </a:lnTo>
                    <a:lnTo>
                      <a:pt x="0" y="19296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TextBox 8">
                <a:extLst>
                  <a:ext uri="{FF2B5EF4-FFF2-40B4-BE49-F238E27FC236}">
                    <a16:creationId xmlns:a16="http://schemas.microsoft.com/office/drawing/2014/main" id="{EA752F10-E0FA-8EBD-57C2-0CAD38264AE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066193" cy="2310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40" name="TextBox 16">
              <a:extLst>
                <a:ext uri="{FF2B5EF4-FFF2-40B4-BE49-F238E27FC236}">
                  <a16:creationId xmlns:a16="http://schemas.microsoft.com/office/drawing/2014/main" id="{DB276865-1ADC-3A3B-8B6E-84C988B34F4C}"/>
                </a:ext>
              </a:extLst>
            </p:cNvPr>
            <p:cNvSpPr txBox="1"/>
            <p:nvPr/>
          </p:nvSpPr>
          <p:spPr>
            <a:xfrm>
              <a:off x="1028700" y="990600"/>
              <a:ext cx="281232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Ulster University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9909DD0-D6E7-8E46-0FCF-EBC6AA292460}"/>
              </a:ext>
            </a:extLst>
          </p:cNvPr>
          <p:cNvGrpSpPr/>
          <p:nvPr/>
        </p:nvGrpSpPr>
        <p:grpSpPr>
          <a:xfrm>
            <a:off x="15882727" y="38100"/>
            <a:ext cx="2405273" cy="732655"/>
            <a:chOff x="15882727" y="67445"/>
            <a:chExt cx="2405273" cy="732655"/>
          </a:xfrm>
        </p:grpSpPr>
        <p:grpSp>
          <p:nvGrpSpPr>
            <p:cNvPr id="47" name="Group 2">
              <a:extLst>
                <a:ext uri="{FF2B5EF4-FFF2-40B4-BE49-F238E27FC236}">
                  <a16:creationId xmlns:a16="http://schemas.microsoft.com/office/drawing/2014/main" id="{71DCE74C-4419-68E1-FC65-079712C0E5E2}"/>
                </a:ext>
              </a:extLst>
            </p:cNvPr>
            <p:cNvGrpSpPr/>
            <p:nvPr/>
          </p:nvGrpSpPr>
          <p:grpSpPr>
            <a:xfrm>
              <a:off x="15882727" y="67445"/>
              <a:ext cx="2405273" cy="732655"/>
              <a:chOff x="0" y="0"/>
              <a:chExt cx="633488" cy="192963"/>
            </a:xfrm>
          </p:grpSpPr>
          <p:sp>
            <p:nvSpPr>
              <p:cNvPr id="49" name="Freeform 3">
                <a:extLst>
                  <a:ext uri="{FF2B5EF4-FFF2-40B4-BE49-F238E27FC236}">
                    <a16:creationId xmlns:a16="http://schemas.microsoft.com/office/drawing/2014/main" id="{9AAA6F82-F052-8A71-82B5-D7242C44BA76}"/>
                  </a:ext>
                </a:extLst>
              </p:cNvPr>
              <p:cNvSpPr/>
              <p:nvPr/>
            </p:nvSpPr>
            <p:spPr>
              <a:xfrm>
                <a:off x="0" y="0"/>
                <a:ext cx="633488" cy="192963"/>
              </a:xfrm>
              <a:custGeom>
                <a:avLst/>
                <a:gdLst/>
                <a:ahLst/>
                <a:cxnLst/>
                <a:rect l="l" t="t" r="r" b="b"/>
                <a:pathLst>
                  <a:path w="633488" h="192963">
                    <a:moveTo>
                      <a:pt x="0" y="0"/>
                    </a:moveTo>
                    <a:lnTo>
                      <a:pt x="633488" y="0"/>
                    </a:lnTo>
                    <a:lnTo>
                      <a:pt x="633488" y="192963"/>
                    </a:lnTo>
                    <a:lnTo>
                      <a:pt x="0" y="19296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0" name="TextBox 4">
                <a:extLst>
                  <a:ext uri="{FF2B5EF4-FFF2-40B4-BE49-F238E27FC236}">
                    <a16:creationId xmlns:a16="http://schemas.microsoft.com/office/drawing/2014/main" id="{C0647E82-22D6-247B-E046-81484956720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33488" cy="2310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48" name="TextBox 15">
              <a:extLst>
                <a:ext uri="{FF2B5EF4-FFF2-40B4-BE49-F238E27FC236}">
                  <a16:creationId xmlns:a16="http://schemas.microsoft.com/office/drawing/2014/main" id="{D5163DF9-12CE-9425-54A6-6DB8F0AE1AE7}"/>
                </a:ext>
              </a:extLst>
            </p:cNvPr>
            <p:cNvSpPr txBox="1"/>
            <p:nvPr/>
          </p:nvSpPr>
          <p:spPr>
            <a:xfrm>
              <a:off x="15882727" y="236605"/>
              <a:ext cx="137657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Page 04</a:t>
              </a:r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3EAC15B5-46D7-7DF5-72F0-70C1F176E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1437666"/>
            <a:ext cx="8791932" cy="50035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035D219E-8401-C21B-713C-27B55493C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06"/>
          <a:stretch>
            <a:fillRect/>
          </a:stretch>
        </p:blipFill>
        <p:spPr>
          <a:xfrm>
            <a:off x="10668000" y="1932388"/>
            <a:ext cx="6894172" cy="6227086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838200" y="1735814"/>
            <a:ext cx="9829800" cy="754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en-US" sz="4000" dirty="0">
                <a:latin typeface="Open Sans"/>
                <a:ea typeface="Open Sans"/>
                <a:cs typeface="Open Sans"/>
                <a:sym typeface="Open Sans"/>
              </a:rPr>
              <a:t>25 Years of Real World Bank Data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en-US" sz="4000" dirty="0">
                <a:latin typeface="Open Sans"/>
                <a:ea typeface="Open Sans"/>
                <a:cs typeface="Open Sans"/>
                <a:sym typeface="Open Sans"/>
              </a:rPr>
              <a:t>200+ Countries  ·  3 ML Models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en-US" sz="4000" dirty="0">
                <a:latin typeface="Open Sans"/>
                <a:ea typeface="Open Sans"/>
                <a:cs typeface="Open Sans"/>
                <a:sym typeface="Open Sans"/>
              </a:rPr>
              <a:t>R² = 1.0000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en-US" sz="4000" dirty="0">
                <a:latin typeface="Open Sans"/>
                <a:ea typeface="Open Sans"/>
                <a:cs typeface="Open Sans"/>
                <a:sym typeface="Open Sans"/>
              </a:rPr>
              <a:t/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en-US" sz="4000" dirty="0">
                <a:latin typeface="Open Sans"/>
                <a:ea typeface="Open Sans"/>
                <a:cs typeface="Open Sans"/>
                <a:sym typeface="Open Sans"/>
              </a:rPr>
              <a:t>Ridge Regression achieves near-perfect forecasting of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en-US" sz="4000" dirty="0">
                <a:latin typeface="Open Sans"/>
                <a:ea typeface="Open Sans"/>
                <a:cs typeface="Open Sans"/>
                <a:sym typeface="Open Sans"/>
              </a:rPr>
              <a:t>international tourism arrivals — demonstrating that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en-US" sz="4000" dirty="0">
                <a:latin typeface="Open Sans"/>
                <a:ea typeface="Open Sans"/>
                <a:cs typeface="Open Sans"/>
                <a:sym typeface="Open Sans"/>
              </a:rPr>
              <a:t>temporal lag features unlock the predictive signal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en-US" sz="4000" dirty="0">
                <a:latin typeface="Open Sans"/>
                <a:ea typeface="Open Sans"/>
                <a:cs typeface="Open Sans"/>
                <a:sym typeface="Open Sans"/>
              </a:rPr>
              <a:t>hidden in historical arrival patterns.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A90EF90-8DAC-C1C8-E3CB-BD78C78D9299}"/>
              </a:ext>
            </a:extLst>
          </p:cNvPr>
          <p:cNvGrpSpPr/>
          <p:nvPr/>
        </p:nvGrpSpPr>
        <p:grpSpPr>
          <a:xfrm>
            <a:off x="0" y="23271"/>
            <a:ext cx="18288000" cy="1020258"/>
            <a:chOff x="0" y="23271"/>
            <a:chExt cx="18288000" cy="1020258"/>
          </a:xfrm>
        </p:grpSpPr>
        <p:grpSp>
          <p:nvGrpSpPr>
            <p:cNvPr id="38" name="Group 2">
              <a:extLst>
                <a:ext uri="{FF2B5EF4-FFF2-40B4-BE49-F238E27FC236}">
                  <a16:creationId xmlns:a16="http://schemas.microsoft.com/office/drawing/2014/main" id="{25D467F4-9BBB-26D0-E52B-099D9B8BF9F0}"/>
                </a:ext>
              </a:extLst>
            </p:cNvPr>
            <p:cNvGrpSpPr/>
            <p:nvPr/>
          </p:nvGrpSpPr>
          <p:grpSpPr>
            <a:xfrm>
              <a:off x="15882727" y="23271"/>
              <a:ext cx="2405273" cy="732655"/>
              <a:chOff x="0" y="0"/>
              <a:chExt cx="633488" cy="192963"/>
            </a:xfrm>
          </p:grpSpPr>
          <p:sp>
            <p:nvSpPr>
              <p:cNvPr id="47" name="Freeform 3">
                <a:extLst>
                  <a:ext uri="{FF2B5EF4-FFF2-40B4-BE49-F238E27FC236}">
                    <a16:creationId xmlns:a16="http://schemas.microsoft.com/office/drawing/2014/main" id="{92D62E58-D9F7-A344-FAEF-4A002C3B522C}"/>
                  </a:ext>
                </a:extLst>
              </p:cNvPr>
              <p:cNvSpPr/>
              <p:nvPr/>
            </p:nvSpPr>
            <p:spPr>
              <a:xfrm>
                <a:off x="0" y="0"/>
                <a:ext cx="633488" cy="192963"/>
              </a:xfrm>
              <a:custGeom>
                <a:avLst/>
                <a:gdLst/>
                <a:ahLst/>
                <a:cxnLst/>
                <a:rect l="l" t="t" r="r" b="b"/>
                <a:pathLst>
                  <a:path w="633488" h="192963">
                    <a:moveTo>
                      <a:pt x="0" y="0"/>
                    </a:moveTo>
                    <a:lnTo>
                      <a:pt x="633488" y="0"/>
                    </a:lnTo>
                    <a:lnTo>
                      <a:pt x="633488" y="192963"/>
                    </a:lnTo>
                    <a:lnTo>
                      <a:pt x="0" y="19296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8" name="TextBox 4">
                <a:extLst>
                  <a:ext uri="{FF2B5EF4-FFF2-40B4-BE49-F238E27FC236}">
                    <a16:creationId xmlns:a16="http://schemas.microsoft.com/office/drawing/2014/main" id="{96DC8008-E1FD-20B5-AD67-3B4104FABCE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33488" cy="2310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39" name="TextBox 12">
              <a:extLst>
                <a:ext uri="{FF2B5EF4-FFF2-40B4-BE49-F238E27FC236}">
                  <a16:creationId xmlns:a16="http://schemas.microsoft.com/office/drawing/2014/main" id="{B797F884-BD33-FA24-9533-D9AF7C329A58}"/>
                </a:ext>
              </a:extLst>
            </p:cNvPr>
            <p:cNvSpPr txBox="1"/>
            <p:nvPr/>
          </p:nvSpPr>
          <p:spPr>
            <a:xfrm>
              <a:off x="4495800" y="114300"/>
              <a:ext cx="10586827" cy="929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679"/>
                </a:lnSpc>
              </a:pPr>
              <a:r>
                <a:rPr lang="en-US" sz="6399" b="1" dirty="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DATA PREPROCESSING</a:t>
              </a:r>
            </a:p>
          </p:txBody>
        </p:sp>
        <p:sp>
          <p:nvSpPr>
            <p:cNvPr id="40" name="TextBox 14">
              <a:extLst>
                <a:ext uri="{FF2B5EF4-FFF2-40B4-BE49-F238E27FC236}">
                  <a16:creationId xmlns:a16="http://schemas.microsoft.com/office/drawing/2014/main" id="{6F9998CC-6549-13FD-506D-8852AF22F27D}"/>
                </a:ext>
              </a:extLst>
            </p:cNvPr>
            <p:cNvSpPr txBox="1"/>
            <p:nvPr/>
          </p:nvSpPr>
          <p:spPr>
            <a:xfrm>
              <a:off x="1028700" y="192431"/>
              <a:ext cx="281232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Giggling Platypus Co.</a:t>
              </a:r>
            </a:p>
          </p:txBody>
        </p:sp>
        <p:sp>
          <p:nvSpPr>
            <p:cNvPr id="41" name="TextBox 15">
              <a:extLst>
                <a:ext uri="{FF2B5EF4-FFF2-40B4-BE49-F238E27FC236}">
                  <a16:creationId xmlns:a16="http://schemas.microsoft.com/office/drawing/2014/main" id="{6B3B430B-9901-E129-57D6-0FB3BCC3D9AE}"/>
                </a:ext>
              </a:extLst>
            </p:cNvPr>
            <p:cNvSpPr txBox="1"/>
            <p:nvPr/>
          </p:nvSpPr>
          <p:spPr>
            <a:xfrm>
              <a:off x="15882727" y="192431"/>
              <a:ext cx="137657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Page 05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E1C96F4-139C-74F3-37F9-C2169F950AB4}"/>
                </a:ext>
              </a:extLst>
            </p:cNvPr>
            <p:cNvGrpSpPr/>
            <p:nvPr/>
          </p:nvGrpSpPr>
          <p:grpSpPr>
            <a:xfrm>
              <a:off x="0" y="23271"/>
              <a:ext cx="4048200" cy="732655"/>
              <a:chOff x="0" y="821440"/>
              <a:chExt cx="4048200" cy="732655"/>
            </a:xfrm>
          </p:grpSpPr>
          <p:grpSp>
            <p:nvGrpSpPr>
              <p:cNvPr id="43" name="Group 6">
                <a:extLst>
                  <a:ext uri="{FF2B5EF4-FFF2-40B4-BE49-F238E27FC236}">
                    <a16:creationId xmlns:a16="http://schemas.microsoft.com/office/drawing/2014/main" id="{3CE75758-F256-93E6-FD0C-806DC9DA46B9}"/>
                  </a:ext>
                </a:extLst>
              </p:cNvPr>
              <p:cNvGrpSpPr/>
              <p:nvPr/>
            </p:nvGrpSpPr>
            <p:grpSpPr>
              <a:xfrm>
                <a:off x="0" y="821440"/>
                <a:ext cx="4048200" cy="732655"/>
                <a:chOff x="0" y="0"/>
                <a:chExt cx="1066193" cy="192963"/>
              </a:xfrm>
            </p:grpSpPr>
            <p:sp>
              <p:nvSpPr>
                <p:cNvPr id="45" name="Freeform 7">
                  <a:extLst>
                    <a:ext uri="{FF2B5EF4-FFF2-40B4-BE49-F238E27FC236}">
                      <a16:creationId xmlns:a16="http://schemas.microsoft.com/office/drawing/2014/main" id="{F7A1CF5A-95A4-67BD-4B3F-E6D7F4E8D7B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66193" cy="192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193" h="192963">
                      <a:moveTo>
                        <a:pt x="0" y="0"/>
                      </a:moveTo>
                      <a:lnTo>
                        <a:pt x="1066193" y="0"/>
                      </a:lnTo>
                      <a:lnTo>
                        <a:pt x="1066193" y="192963"/>
                      </a:lnTo>
                      <a:lnTo>
                        <a:pt x="0" y="192963"/>
                      </a:lnTo>
                      <a:close/>
                    </a:path>
                  </a:pathLst>
                </a:custGeom>
                <a:solidFill>
                  <a:srgbClr val="C2410A"/>
                </a:solidFill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6" name="TextBox 8">
                  <a:extLst>
                    <a:ext uri="{FF2B5EF4-FFF2-40B4-BE49-F238E27FC236}">
                      <a16:creationId xmlns:a16="http://schemas.microsoft.com/office/drawing/2014/main" id="{87769D7E-8A3A-FCE4-3DD3-0CF4C6442C88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066193" cy="23106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940"/>
                    </a:lnSpc>
                  </a:pPr>
                  <a:endParaRPr/>
                </a:p>
              </p:txBody>
            </p:sp>
          </p:grpSp>
          <p:sp>
            <p:nvSpPr>
              <p:cNvPr id="44" name="TextBox 16">
                <a:extLst>
                  <a:ext uri="{FF2B5EF4-FFF2-40B4-BE49-F238E27FC236}">
                    <a16:creationId xmlns:a16="http://schemas.microsoft.com/office/drawing/2014/main" id="{02750BE1-9270-EAF5-01F3-2C62F70F961D}"/>
                  </a:ext>
                </a:extLst>
              </p:cNvPr>
              <p:cNvSpPr txBox="1"/>
              <p:nvPr/>
            </p:nvSpPr>
            <p:spPr>
              <a:xfrm>
                <a:off x="1028700" y="990600"/>
                <a:ext cx="2812323" cy="35623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940"/>
                  </a:lnSpc>
                  <a:spcBef>
                    <a:spcPct val="0"/>
                  </a:spcBef>
                </a:pPr>
                <a:r>
                  <a:rPr lang="en-US" sz="2100" b="1" dirty="0">
                    <a:solidFill>
                      <a:srgbClr val="FFFFFF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Ulster University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5FDE6-B841-ECBE-AF58-16C9FB142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F52AEC-C46F-CB1A-5987-4ADD11C45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760543"/>
              </p:ext>
            </p:extLst>
          </p:nvPr>
        </p:nvGraphicFramePr>
        <p:xfrm>
          <a:off x="228600" y="1343632"/>
          <a:ext cx="17754600" cy="8524271"/>
        </p:xfrm>
        <a:graphic>
          <a:graphicData uri="http://schemas.openxmlformats.org/drawingml/2006/table">
            <a:tbl>
              <a:tblPr/>
              <a:tblGrid>
                <a:gridCol w="2536371">
                  <a:extLst>
                    <a:ext uri="{9D8B030D-6E8A-4147-A177-3AD203B41FA5}">
                      <a16:colId xmlns:a16="http://schemas.microsoft.com/office/drawing/2014/main" val="3956439264"/>
                    </a:ext>
                  </a:extLst>
                </a:gridCol>
                <a:gridCol w="3483429">
                  <a:extLst>
                    <a:ext uri="{9D8B030D-6E8A-4147-A177-3AD203B41FA5}">
                      <a16:colId xmlns:a16="http://schemas.microsoft.com/office/drawing/2014/main" val="3104508040"/>
                    </a:ext>
                  </a:extLst>
                </a:gridCol>
                <a:gridCol w="1514715">
                  <a:extLst>
                    <a:ext uri="{9D8B030D-6E8A-4147-A177-3AD203B41FA5}">
                      <a16:colId xmlns:a16="http://schemas.microsoft.com/office/drawing/2014/main" val="2885265550"/>
                    </a:ext>
                  </a:extLst>
                </a:gridCol>
                <a:gridCol w="4657485">
                  <a:extLst>
                    <a:ext uri="{9D8B030D-6E8A-4147-A177-3AD203B41FA5}">
                      <a16:colId xmlns:a16="http://schemas.microsoft.com/office/drawing/2014/main" val="3425838005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1349040758"/>
                    </a:ext>
                  </a:extLst>
                </a:gridCol>
              </a:tblGrid>
              <a:tr h="400106">
                <a:tc>
                  <a:txBody>
                    <a:bodyPr/>
                    <a:lstStyle/>
                    <a:p>
                      <a:r>
                        <a:rPr lang="en-US" sz="2400" b="1"/>
                        <a:t>Model</a:t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R²</a:t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RMSE (log)</a:t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MAE (log)</a:t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Train Time (s)</a:t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589569"/>
                  </a:ext>
                </a:extLst>
              </a:tr>
              <a:tr h="776106">
                <a:tc>
                  <a:txBody>
                    <a:bodyPr/>
                    <a:lstStyle/>
                    <a:p>
                      <a:r>
                        <a:rPr lang="en-US" sz="2400" dirty="0"/>
                        <a:t>Ridge Regression</a:t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1.0000</a:t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0.0118</a:t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0.0071</a:t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0.00</a:t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755490"/>
                  </a:ext>
                </a:extLst>
              </a:tr>
              <a:tr h="1139211">
                <a:tc>
                  <a:txBody>
                    <a:bodyPr/>
                    <a:lstStyle/>
                    <a:p>
                      <a:r>
                        <a:rPr lang="en-US" sz="2400" dirty="0"/>
                        <a:t>Gradient Boosting</a:t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0.9992</a:t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0.0651</a:t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0.0323</a:t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1.90</a:t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317351"/>
                  </a:ext>
                </a:extLst>
              </a:tr>
              <a:tr h="776106">
                <a:tc>
                  <a:txBody>
                    <a:bodyPr/>
                    <a:lstStyle/>
                    <a:p>
                      <a:r>
                        <a:rPr lang="en-US" sz="2400" dirty="0"/>
                        <a:t>Random Forest</a:t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0.9976</a:t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0.1124</a:t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0.0424</a:t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0.29</a:t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655129"/>
                  </a:ext>
                </a:extLst>
              </a:tr>
              <a:tr h="776106">
                <a:tc>
                  <a:txBody>
                    <a:bodyPr/>
                    <a:lstStyle/>
                    <a:p>
                      <a:r>
                        <a:rPr lang="en-US" sz="2400" dirty="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248731"/>
                  </a:ext>
                </a:extLst>
              </a:tr>
              <a:tr h="776106">
                <a:tc>
                  <a:txBody>
                    <a:bodyPr/>
                    <a:lstStyle/>
                    <a:p>
                      <a:r>
                        <a:rPr lang="en-US" sz="2400" dirty="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921355"/>
                  </a:ext>
                </a:extLst>
              </a:tr>
              <a:tr h="776106">
                <a:tc>
                  <a:txBody>
                    <a:bodyPr/>
                    <a:lstStyle/>
                    <a:p>
                      <a:r>
                        <a:rPr lang="en-US" sz="2400" dirty="0" err="1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66213"/>
                  </a:ext>
                </a:extLst>
              </a:tr>
              <a:tr h="776106">
                <a:tc>
                  <a:txBody>
                    <a:bodyPr/>
                    <a:lstStyle/>
                    <a:p>
                      <a:r>
                        <a:rPr lang="en-US" sz="2400" dirty="0" err="1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580958"/>
                  </a:ext>
                </a:extLst>
              </a:tr>
              <a:tr h="776106">
                <a:tc>
                  <a:txBody>
                    <a:bodyPr/>
                    <a:lstStyle/>
                    <a:p>
                      <a:r>
                        <a:rPr lang="en-US" sz="2400" dirty="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797921"/>
                  </a:ext>
                </a:extLst>
              </a:tr>
              <a:tr h="776106">
                <a:tc>
                  <a:txBody>
                    <a:bodyPr/>
                    <a:lstStyle/>
                    <a:p>
                      <a:r>
                        <a:rPr lang="en-US" sz="2400" dirty="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589712"/>
                  </a:ext>
                </a:extLst>
              </a:tr>
              <a:tr h="776106">
                <a:tc>
                  <a:txBody>
                    <a:bodyPr/>
                    <a:lstStyle/>
                    <a:p>
                      <a:r>
                        <a:rPr lang="en-US" sz="2400" dirty="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/>
                      </a:r>
                    </a:p>
                  </a:txBody>
                  <a:tcPr marL="23451" marR="23451" marT="11725" marB="11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496122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B8CE8943-F01D-DF99-78F3-9780212E6265}"/>
              </a:ext>
            </a:extLst>
          </p:cNvPr>
          <p:cNvGrpSpPr/>
          <p:nvPr/>
        </p:nvGrpSpPr>
        <p:grpSpPr>
          <a:xfrm>
            <a:off x="0" y="23271"/>
            <a:ext cx="18288000" cy="1005429"/>
            <a:chOff x="0" y="23271"/>
            <a:chExt cx="18288000" cy="1005429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C7E48223-39C1-1C5B-C6DF-7C03DA9CB778}"/>
                </a:ext>
              </a:extLst>
            </p:cNvPr>
            <p:cNvGrpSpPr/>
            <p:nvPr/>
          </p:nvGrpSpPr>
          <p:grpSpPr>
            <a:xfrm>
              <a:off x="15882727" y="23271"/>
              <a:ext cx="2405273" cy="732655"/>
              <a:chOff x="0" y="0"/>
              <a:chExt cx="633488" cy="19296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A872EC57-0741-1DC0-8C29-04487856E486}"/>
                  </a:ext>
                </a:extLst>
              </p:cNvPr>
              <p:cNvSpPr/>
              <p:nvPr/>
            </p:nvSpPr>
            <p:spPr>
              <a:xfrm>
                <a:off x="0" y="0"/>
                <a:ext cx="633488" cy="192963"/>
              </a:xfrm>
              <a:custGeom>
                <a:avLst/>
                <a:gdLst/>
                <a:ahLst/>
                <a:cxnLst/>
                <a:rect l="l" t="t" r="r" b="b"/>
                <a:pathLst>
                  <a:path w="633488" h="192963">
                    <a:moveTo>
                      <a:pt x="0" y="0"/>
                    </a:moveTo>
                    <a:lnTo>
                      <a:pt x="633488" y="0"/>
                    </a:lnTo>
                    <a:lnTo>
                      <a:pt x="633488" y="192963"/>
                    </a:lnTo>
                    <a:lnTo>
                      <a:pt x="0" y="19296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E15D595E-C752-FF30-A3AA-86E90205A03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33488" cy="2310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1E1FCE-E222-B7CF-EDF4-0242BE6D1161}"/>
                </a:ext>
              </a:extLst>
            </p:cNvPr>
            <p:cNvSpPr txBox="1"/>
            <p:nvPr/>
          </p:nvSpPr>
          <p:spPr>
            <a:xfrm>
              <a:off x="4267199" y="99471"/>
              <a:ext cx="10586827" cy="929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679"/>
                </a:lnSpc>
              </a:pPr>
              <a:r>
                <a:rPr lang="en-US" sz="6399" b="1" dirty="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LITERATURE REVIEW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B3F90594-B4F5-94E4-92B6-8EA161D95E03}"/>
                </a:ext>
              </a:extLst>
            </p:cNvPr>
            <p:cNvSpPr txBox="1"/>
            <p:nvPr/>
          </p:nvSpPr>
          <p:spPr>
            <a:xfrm>
              <a:off x="1028700" y="192431"/>
              <a:ext cx="281232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Giggling Platypus Co.</a:t>
              </a: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66878CA2-93DE-EDF4-5040-C5EF14F70AB0}"/>
                </a:ext>
              </a:extLst>
            </p:cNvPr>
            <p:cNvSpPr txBox="1"/>
            <p:nvPr/>
          </p:nvSpPr>
          <p:spPr>
            <a:xfrm>
              <a:off x="15882727" y="192431"/>
              <a:ext cx="137657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Page 06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CD9A606-E5BC-05E6-33D3-5FA6EBE8BFB6}"/>
                </a:ext>
              </a:extLst>
            </p:cNvPr>
            <p:cNvGrpSpPr/>
            <p:nvPr/>
          </p:nvGrpSpPr>
          <p:grpSpPr>
            <a:xfrm>
              <a:off x="0" y="23271"/>
              <a:ext cx="4048200" cy="732655"/>
              <a:chOff x="0" y="821440"/>
              <a:chExt cx="4048200" cy="732655"/>
            </a:xfrm>
          </p:grpSpPr>
          <p:grpSp>
            <p:nvGrpSpPr>
              <p:cNvPr id="34" name="Group 6">
                <a:extLst>
                  <a:ext uri="{FF2B5EF4-FFF2-40B4-BE49-F238E27FC236}">
                    <a16:creationId xmlns:a16="http://schemas.microsoft.com/office/drawing/2014/main" id="{FF7699C7-AEFC-2E3E-3348-97C18E5A58D2}"/>
                  </a:ext>
                </a:extLst>
              </p:cNvPr>
              <p:cNvGrpSpPr/>
              <p:nvPr/>
            </p:nvGrpSpPr>
            <p:grpSpPr>
              <a:xfrm>
                <a:off x="0" y="821440"/>
                <a:ext cx="4048200" cy="732655"/>
                <a:chOff x="0" y="0"/>
                <a:chExt cx="1066193" cy="192963"/>
              </a:xfrm>
            </p:grpSpPr>
            <p:sp>
              <p:nvSpPr>
                <p:cNvPr id="36" name="Freeform 7">
                  <a:extLst>
                    <a:ext uri="{FF2B5EF4-FFF2-40B4-BE49-F238E27FC236}">
                      <a16:creationId xmlns:a16="http://schemas.microsoft.com/office/drawing/2014/main" id="{040E66E1-8976-46D5-33BF-400B2808B5E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66193" cy="192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193" h="192963">
                      <a:moveTo>
                        <a:pt x="0" y="0"/>
                      </a:moveTo>
                      <a:lnTo>
                        <a:pt x="1066193" y="0"/>
                      </a:lnTo>
                      <a:lnTo>
                        <a:pt x="1066193" y="192963"/>
                      </a:lnTo>
                      <a:lnTo>
                        <a:pt x="0" y="192963"/>
                      </a:lnTo>
                      <a:close/>
                    </a:path>
                  </a:pathLst>
                </a:custGeom>
                <a:solidFill>
                  <a:srgbClr val="C2410A"/>
                </a:solidFill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7" name="TextBox 8">
                  <a:extLst>
                    <a:ext uri="{FF2B5EF4-FFF2-40B4-BE49-F238E27FC236}">
                      <a16:creationId xmlns:a16="http://schemas.microsoft.com/office/drawing/2014/main" id="{A5E4D515-879A-07C3-564F-0E3BFE7DE8B4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066193" cy="23106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940"/>
                    </a:lnSpc>
                  </a:pPr>
                  <a:endParaRPr/>
                </a:p>
              </p:txBody>
            </p:sp>
          </p:grpSp>
          <p:sp>
            <p:nvSpPr>
              <p:cNvPr id="35" name="TextBox 16">
                <a:extLst>
                  <a:ext uri="{FF2B5EF4-FFF2-40B4-BE49-F238E27FC236}">
                    <a16:creationId xmlns:a16="http://schemas.microsoft.com/office/drawing/2014/main" id="{04CE0564-33C1-9ADD-2C49-98D4F7442880}"/>
                  </a:ext>
                </a:extLst>
              </p:cNvPr>
              <p:cNvSpPr txBox="1"/>
              <p:nvPr/>
            </p:nvSpPr>
            <p:spPr>
              <a:xfrm>
                <a:off x="1028700" y="990600"/>
                <a:ext cx="2812323" cy="35623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940"/>
                  </a:lnSpc>
                  <a:spcBef>
                    <a:spcPct val="0"/>
                  </a:spcBef>
                </a:pPr>
                <a:r>
                  <a:rPr lang="en-US" sz="2100" b="1" dirty="0">
                    <a:solidFill>
                      <a:srgbClr val="FFFFFF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Ulster University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27604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6010084" y="84051"/>
            <a:ext cx="6743700" cy="929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FEATURE ENGINEERING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92483" y="1333500"/>
            <a:ext cx="10722601" cy="7879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Log-Normalisation  →  x' = log(x + 1) applied to all continuous features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Stabilises heavy right-skewed distributions (raw arrivals: 900 → 2.4 billion)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/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Lag Features  →  1-year and 2-year lagged log-arrivals per country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Computed with groupby('country').shift(1) to prevent data leakage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lag1_log_arrivals accounts for 93.02% of Random Forest feature importance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/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Growth Rate  →  Year-on-year log-arrivals difference (momentum signal)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/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Temporal Features  →  year_norm (0–1),  is_post_covid (binary),  decade bucket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/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Economic Features  →  log_gdp, log_receipts, log_exports, log_expenditures, inflation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/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Final Feature Set: 12 variables  ·  3,091 modelling observations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4ACDBE6-3F92-9C42-AA78-7653B0F0E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65"/>
          <a:stretch>
            <a:fillRect/>
          </a:stretch>
        </p:blipFill>
        <p:spPr>
          <a:xfrm>
            <a:off x="558925" y="2552700"/>
            <a:ext cx="6564195" cy="571500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6D59014B-338C-0762-2FD1-CB6AF4CB27B3}"/>
              </a:ext>
            </a:extLst>
          </p:cNvPr>
          <p:cNvGrpSpPr/>
          <p:nvPr/>
        </p:nvGrpSpPr>
        <p:grpSpPr>
          <a:xfrm>
            <a:off x="0" y="23271"/>
            <a:ext cx="18288000" cy="732655"/>
            <a:chOff x="0" y="23271"/>
            <a:chExt cx="18288000" cy="732655"/>
          </a:xfrm>
        </p:grpSpPr>
        <p:grpSp>
          <p:nvGrpSpPr>
            <p:cNvPr id="17" name="Group 2">
              <a:extLst>
                <a:ext uri="{FF2B5EF4-FFF2-40B4-BE49-F238E27FC236}">
                  <a16:creationId xmlns:a16="http://schemas.microsoft.com/office/drawing/2014/main" id="{2DB2F566-9028-CB52-8438-22129842FDF2}"/>
                </a:ext>
              </a:extLst>
            </p:cNvPr>
            <p:cNvGrpSpPr/>
            <p:nvPr/>
          </p:nvGrpSpPr>
          <p:grpSpPr>
            <a:xfrm>
              <a:off x="15882727" y="23271"/>
              <a:ext cx="2405273" cy="732655"/>
              <a:chOff x="0" y="0"/>
              <a:chExt cx="633488" cy="192963"/>
            </a:xfrm>
          </p:grpSpPr>
          <p:sp>
            <p:nvSpPr>
              <p:cNvPr id="26" name="Freeform 3">
                <a:extLst>
                  <a:ext uri="{FF2B5EF4-FFF2-40B4-BE49-F238E27FC236}">
                    <a16:creationId xmlns:a16="http://schemas.microsoft.com/office/drawing/2014/main" id="{8016F8DC-126D-4C14-8DF2-ED122DA91449}"/>
                  </a:ext>
                </a:extLst>
              </p:cNvPr>
              <p:cNvSpPr/>
              <p:nvPr/>
            </p:nvSpPr>
            <p:spPr>
              <a:xfrm>
                <a:off x="0" y="0"/>
                <a:ext cx="633488" cy="192963"/>
              </a:xfrm>
              <a:custGeom>
                <a:avLst/>
                <a:gdLst/>
                <a:ahLst/>
                <a:cxnLst/>
                <a:rect l="l" t="t" r="r" b="b"/>
                <a:pathLst>
                  <a:path w="633488" h="192963">
                    <a:moveTo>
                      <a:pt x="0" y="0"/>
                    </a:moveTo>
                    <a:lnTo>
                      <a:pt x="633488" y="0"/>
                    </a:lnTo>
                    <a:lnTo>
                      <a:pt x="633488" y="192963"/>
                    </a:lnTo>
                    <a:lnTo>
                      <a:pt x="0" y="19296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TextBox 4">
                <a:extLst>
                  <a:ext uri="{FF2B5EF4-FFF2-40B4-BE49-F238E27FC236}">
                    <a16:creationId xmlns:a16="http://schemas.microsoft.com/office/drawing/2014/main" id="{6F932B7B-BBEE-9DA4-6125-4864C489088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33488" cy="2310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9" name="TextBox 14">
              <a:extLst>
                <a:ext uri="{FF2B5EF4-FFF2-40B4-BE49-F238E27FC236}">
                  <a16:creationId xmlns:a16="http://schemas.microsoft.com/office/drawing/2014/main" id="{255D8808-6B66-D592-99E2-4E8034CA3F58}"/>
                </a:ext>
              </a:extLst>
            </p:cNvPr>
            <p:cNvSpPr txBox="1"/>
            <p:nvPr/>
          </p:nvSpPr>
          <p:spPr>
            <a:xfrm>
              <a:off x="1028700" y="192431"/>
              <a:ext cx="281232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Giggling Platypus Co.</a:t>
              </a:r>
            </a:p>
          </p:txBody>
        </p:sp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1D0A6CB6-378F-B24B-07ED-9AAE690E86ED}"/>
                </a:ext>
              </a:extLst>
            </p:cNvPr>
            <p:cNvSpPr txBox="1"/>
            <p:nvPr/>
          </p:nvSpPr>
          <p:spPr>
            <a:xfrm>
              <a:off x="15882727" y="192431"/>
              <a:ext cx="137657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Page 07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4ED4C53-13CA-0F4B-01F2-409F02E22662}"/>
                </a:ext>
              </a:extLst>
            </p:cNvPr>
            <p:cNvGrpSpPr/>
            <p:nvPr/>
          </p:nvGrpSpPr>
          <p:grpSpPr>
            <a:xfrm>
              <a:off x="0" y="23271"/>
              <a:ext cx="4048200" cy="732655"/>
              <a:chOff x="0" y="821440"/>
              <a:chExt cx="4048200" cy="732655"/>
            </a:xfrm>
          </p:grpSpPr>
          <p:grpSp>
            <p:nvGrpSpPr>
              <p:cNvPr id="22" name="Group 6">
                <a:extLst>
                  <a:ext uri="{FF2B5EF4-FFF2-40B4-BE49-F238E27FC236}">
                    <a16:creationId xmlns:a16="http://schemas.microsoft.com/office/drawing/2014/main" id="{207DF96C-3897-E217-8113-955766601C7B}"/>
                  </a:ext>
                </a:extLst>
              </p:cNvPr>
              <p:cNvGrpSpPr/>
              <p:nvPr/>
            </p:nvGrpSpPr>
            <p:grpSpPr>
              <a:xfrm>
                <a:off x="0" y="821440"/>
                <a:ext cx="4048200" cy="732655"/>
                <a:chOff x="0" y="0"/>
                <a:chExt cx="1066193" cy="192963"/>
              </a:xfrm>
            </p:grpSpPr>
            <p:sp>
              <p:nvSpPr>
                <p:cNvPr id="24" name="Freeform 7">
                  <a:extLst>
                    <a:ext uri="{FF2B5EF4-FFF2-40B4-BE49-F238E27FC236}">
                      <a16:creationId xmlns:a16="http://schemas.microsoft.com/office/drawing/2014/main" id="{46B06A76-DD81-220E-E204-0A7C73B5CDD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66193" cy="192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193" h="192963">
                      <a:moveTo>
                        <a:pt x="0" y="0"/>
                      </a:moveTo>
                      <a:lnTo>
                        <a:pt x="1066193" y="0"/>
                      </a:lnTo>
                      <a:lnTo>
                        <a:pt x="1066193" y="192963"/>
                      </a:lnTo>
                      <a:lnTo>
                        <a:pt x="0" y="192963"/>
                      </a:lnTo>
                      <a:close/>
                    </a:path>
                  </a:pathLst>
                </a:custGeom>
                <a:solidFill>
                  <a:srgbClr val="C2410A"/>
                </a:solidFill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" name="TextBox 8">
                  <a:extLst>
                    <a:ext uri="{FF2B5EF4-FFF2-40B4-BE49-F238E27FC236}">
                      <a16:creationId xmlns:a16="http://schemas.microsoft.com/office/drawing/2014/main" id="{3CA59155-2B13-7F2B-F4CB-14312A60F5CD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066193" cy="23106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940"/>
                    </a:lnSpc>
                  </a:pPr>
                  <a:endParaRPr/>
                </a:p>
              </p:txBody>
            </p:sp>
          </p:grpSp>
          <p:sp>
            <p:nvSpPr>
              <p:cNvPr id="23" name="TextBox 16">
                <a:extLst>
                  <a:ext uri="{FF2B5EF4-FFF2-40B4-BE49-F238E27FC236}">
                    <a16:creationId xmlns:a16="http://schemas.microsoft.com/office/drawing/2014/main" id="{44D1DE83-7045-392A-3337-4EEC77842612}"/>
                  </a:ext>
                </a:extLst>
              </p:cNvPr>
              <p:cNvSpPr txBox="1"/>
              <p:nvPr/>
            </p:nvSpPr>
            <p:spPr>
              <a:xfrm>
                <a:off x="1028700" y="990600"/>
                <a:ext cx="2812323" cy="35623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940"/>
                  </a:lnSpc>
                  <a:spcBef>
                    <a:spcPct val="0"/>
                  </a:spcBef>
                </a:pPr>
                <a:r>
                  <a:rPr lang="en-US" sz="2100" b="1" dirty="0">
                    <a:solidFill>
                      <a:srgbClr val="FFFFFF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Ulster University</a:t>
                </a: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9220200" y="1355445"/>
            <a:ext cx="740055" cy="740055"/>
            <a:chOff x="0" y="0"/>
            <a:chExt cx="194912" cy="1949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4912" cy="194912"/>
            </a:xfrm>
            <a:custGeom>
              <a:avLst/>
              <a:gdLst/>
              <a:ahLst/>
              <a:cxnLst/>
              <a:rect l="l" t="t" r="r" b="b"/>
              <a:pathLst>
                <a:path w="194912" h="194912">
                  <a:moveTo>
                    <a:pt x="0" y="0"/>
                  </a:moveTo>
                  <a:lnTo>
                    <a:pt x="194912" y="0"/>
                  </a:lnTo>
                  <a:lnTo>
                    <a:pt x="194912" y="194912"/>
                  </a:lnTo>
                  <a:lnTo>
                    <a:pt x="0" y="194912"/>
                  </a:lnTo>
                  <a:close/>
                </a:path>
              </a:pathLst>
            </a:custGeom>
            <a:solidFill>
              <a:srgbClr val="C2410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94912" cy="233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294182" y="1528306"/>
            <a:ext cx="59209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Data Preprocessing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19125" y="1171156"/>
            <a:ext cx="542545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Datasets Used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19125" y="1456211"/>
            <a:ext cx="7487875" cy="6206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World Bank Tourism &amp; Economic Impact dataset via Kaggle. 6,650 records · 266 countries · 1999–2023 · 11 variables.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220200" y="2574645"/>
            <a:ext cx="740055" cy="740055"/>
            <a:chOff x="0" y="0"/>
            <a:chExt cx="194912" cy="19491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4912" cy="194912"/>
            </a:xfrm>
            <a:custGeom>
              <a:avLst/>
              <a:gdLst/>
              <a:ahLst/>
              <a:cxnLst/>
              <a:rect l="l" t="t" r="r" b="b"/>
              <a:pathLst>
                <a:path w="194912" h="194912">
                  <a:moveTo>
                    <a:pt x="0" y="0"/>
                  </a:moveTo>
                  <a:lnTo>
                    <a:pt x="194912" y="0"/>
                  </a:lnTo>
                  <a:lnTo>
                    <a:pt x="194912" y="194912"/>
                  </a:lnTo>
                  <a:lnTo>
                    <a:pt x="0" y="194912"/>
                  </a:lnTo>
                  <a:close/>
                </a:path>
              </a:pathLst>
            </a:custGeom>
            <a:solidFill>
              <a:srgbClr val="C2410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94912" cy="233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294182" y="2747506"/>
            <a:ext cx="59209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Model Training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19125" y="2321571"/>
            <a:ext cx="5425459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2400" b="1" dirty="0"/>
              <a:t>Feature Engineering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19125" y="2675410"/>
            <a:ext cx="7640275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dirty="0"/>
              <a:t>Remove columns &gt;40% missing (departures, unemployment). Median imputation for remaining. Discard rows with missing target. 6,650 → 4,949 → 3,091 final records.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220200" y="3870045"/>
            <a:ext cx="740055" cy="740055"/>
            <a:chOff x="0" y="0"/>
            <a:chExt cx="194912" cy="19491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4912" cy="194912"/>
            </a:xfrm>
            <a:custGeom>
              <a:avLst/>
              <a:gdLst/>
              <a:ahLst/>
              <a:cxnLst/>
              <a:rect l="l" t="t" r="r" b="b"/>
              <a:pathLst>
                <a:path w="194912" h="194912">
                  <a:moveTo>
                    <a:pt x="0" y="0"/>
                  </a:moveTo>
                  <a:lnTo>
                    <a:pt x="194912" y="0"/>
                  </a:lnTo>
                  <a:lnTo>
                    <a:pt x="194912" y="194912"/>
                  </a:lnTo>
                  <a:lnTo>
                    <a:pt x="0" y="194912"/>
                  </a:lnTo>
                  <a:close/>
                </a:path>
              </a:pathLst>
            </a:custGeom>
            <a:solidFill>
              <a:srgbClr val="C2410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94912" cy="233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294182" y="4042905"/>
            <a:ext cx="59209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MLOps Deployment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19125" y="3637138"/>
            <a:ext cx="5425459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2400" b="1" dirty="0"/>
              <a:t>Model Evaluation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19125" y="3970810"/>
            <a:ext cx="7487875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dirty="0"/>
              <a:t>Log-normalise all continuous features. Create 1-year and 2-year lag features per country. Add growth rate, year_norm, is_post_covid, decade. Label-encode country. Final: 12 features.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220200" y="5052099"/>
            <a:ext cx="740055" cy="740055"/>
            <a:chOff x="0" y="0"/>
            <a:chExt cx="194912" cy="19491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94912" cy="194912"/>
            </a:xfrm>
            <a:custGeom>
              <a:avLst/>
              <a:gdLst/>
              <a:ahLst/>
              <a:cxnLst/>
              <a:rect l="l" t="t" r="r" b="b"/>
              <a:pathLst>
                <a:path w="194912" h="194912">
                  <a:moveTo>
                    <a:pt x="0" y="0"/>
                  </a:moveTo>
                  <a:lnTo>
                    <a:pt x="194912" y="0"/>
                  </a:lnTo>
                  <a:lnTo>
                    <a:pt x="194912" y="194912"/>
                  </a:lnTo>
                  <a:lnTo>
                    <a:pt x="0" y="194912"/>
                  </a:lnTo>
                  <a:close/>
                </a:path>
              </a:pathLst>
            </a:custGeom>
            <a:solidFill>
              <a:srgbClr val="C2410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94912" cy="233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294182" y="5224959"/>
            <a:ext cx="59209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19125" y="4838610"/>
            <a:ext cx="5425459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2400" b="1" dirty="0" err="1"/>
              <a:t>Monitoring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419125" y="5152864"/>
            <a:ext cx="7487875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dirty="0"/>
              <a:t>80/20 train/test split (seed=42). Ridge Regression (α=1.0, StandardScaler), Gradient Boosting (300 trees, depth=5, lr=0.05), Random Forest (300 trees, depth=12, min_split=4).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C1B9700-88A9-F994-5341-DA692C39E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10784"/>
            <a:ext cx="8532730" cy="8655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" name="Group 2">
            <a:extLst>
              <a:ext uri="{FF2B5EF4-FFF2-40B4-BE49-F238E27FC236}">
                <a16:creationId xmlns:a16="http://schemas.microsoft.com/office/drawing/2014/main" id="{30B125F1-32AB-9AA0-6743-02FBA2647343}"/>
              </a:ext>
            </a:extLst>
          </p:cNvPr>
          <p:cNvGrpSpPr/>
          <p:nvPr/>
        </p:nvGrpSpPr>
        <p:grpSpPr>
          <a:xfrm>
            <a:off x="15882727" y="23271"/>
            <a:ext cx="2405273" cy="732655"/>
            <a:chOff x="0" y="0"/>
            <a:chExt cx="633488" cy="192963"/>
          </a:xfrm>
        </p:grpSpPr>
        <p:sp>
          <p:nvSpPr>
            <p:cNvPr id="49" name="Freeform 3">
              <a:extLst>
                <a:ext uri="{FF2B5EF4-FFF2-40B4-BE49-F238E27FC236}">
                  <a16:creationId xmlns:a16="http://schemas.microsoft.com/office/drawing/2014/main" id="{0311BD8C-C93F-7B8F-7FF7-2A99F96ADD59}"/>
                </a:ext>
              </a:extLst>
            </p:cNvPr>
            <p:cNvSpPr/>
            <p:nvPr/>
          </p:nvSpPr>
          <p:spPr>
            <a:xfrm>
              <a:off x="0" y="0"/>
              <a:ext cx="633488" cy="192963"/>
            </a:xfrm>
            <a:custGeom>
              <a:avLst/>
              <a:gdLst/>
              <a:ahLst/>
              <a:cxnLst/>
              <a:rect l="l" t="t" r="r" b="b"/>
              <a:pathLst>
                <a:path w="633488" h="192963">
                  <a:moveTo>
                    <a:pt x="0" y="0"/>
                  </a:moveTo>
                  <a:lnTo>
                    <a:pt x="633488" y="0"/>
                  </a:lnTo>
                  <a:lnTo>
                    <a:pt x="633488" y="192963"/>
                  </a:lnTo>
                  <a:lnTo>
                    <a:pt x="0" y="192963"/>
                  </a:lnTo>
                  <a:close/>
                </a:path>
              </a:pathLst>
            </a:custGeom>
            <a:solidFill>
              <a:srgbClr val="C2410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TextBox 4">
              <a:extLst>
                <a:ext uri="{FF2B5EF4-FFF2-40B4-BE49-F238E27FC236}">
                  <a16:creationId xmlns:a16="http://schemas.microsoft.com/office/drawing/2014/main" id="{2B06F1B8-FE63-1A8D-F233-BF195DC19FB6}"/>
                </a:ext>
              </a:extLst>
            </p:cNvPr>
            <p:cNvSpPr txBox="1"/>
            <p:nvPr/>
          </p:nvSpPr>
          <p:spPr>
            <a:xfrm>
              <a:off x="0" y="-38100"/>
              <a:ext cx="633488" cy="231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1" name="TextBox 12">
            <a:extLst>
              <a:ext uri="{FF2B5EF4-FFF2-40B4-BE49-F238E27FC236}">
                <a16:creationId xmlns:a16="http://schemas.microsoft.com/office/drawing/2014/main" id="{392FBD73-32AD-5B0D-ADDD-753B65DA3391}"/>
              </a:ext>
            </a:extLst>
          </p:cNvPr>
          <p:cNvSpPr txBox="1"/>
          <p:nvPr/>
        </p:nvSpPr>
        <p:spPr>
          <a:xfrm>
            <a:off x="4267199" y="99471"/>
            <a:ext cx="10586827" cy="929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METHODOLOGY</a:t>
            </a:r>
          </a:p>
        </p:txBody>
      </p:sp>
      <p:sp>
        <p:nvSpPr>
          <p:cNvPr id="52" name="TextBox 14">
            <a:extLst>
              <a:ext uri="{FF2B5EF4-FFF2-40B4-BE49-F238E27FC236}">
                <a16:creationId xmlns:a16="http://schemas.microsoft.com/office/drawing/2014/main" id="{955402AD-E4CC-4B71-E330-576884BB9C27}"/>
              </a:ext>
            </a:extLst>
          </p:cNvPr>
          <p:cNvSpPr txBox="1"/>
          <p:nvPr/>
        </p:nvSpPr>
        <p:spPr>
          <a:xfrm>
            <a:off x="1028700" y="192431"/>
            <a:ext cx="281232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Giggling Platypus Co.</a:t>
            </a:r>
          </a:p>
        </p:txBody>
      </p:sp>
      <p:sp>
        <p:nvSpPr>
          <p:cNvPr id="53" name="TextBox 15">
            <a:extLst>
              <a:ext uri="{FF2B5EF4-FFF2-40B4-BE49-F238E27FC236}">
                <a16:creationId xmlns:a16="http://schemas.microsoft.com/office/drawing/2014/main" id="{FBD7DB0E-CDE5-AB55-343C-AB9B6C614036}"/>
              </a:ext>
            </a:extLst>
          </p:cNvPr>
          <p:cNvSpPr txBox="1"/>
          <p:nvPr/>
        </p:nvSpPr>
        <p:spPr>
          <a:xfrm>
            <a:off x="15882727" y="192431"/>
            <a:ext cx="13765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Page 08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F427F1-E72F-7D35-90F3-E76711FF58E7}"/>
              </a:ext>
            </a:extLst>
          </p:cNvPr>
          <p:cNvGrpSpPr/>
          <p:nvPr/>
        </p:nvGrpSpPr>
        <p:grpSpPr>
          <a:xfrm>
            <a:off x="0" y="23271"/>
            <a:ext cx="4048200" cy="732655"/>
            <a:chOff x="0" y="821440"/>
            <a:chExt cx="4048200" cy="732655"/>
          </a:xfrm>
        </p:grpSpPr>
        <p:grpSp>
          <p:nvGrpSpPr>
            <p:cNvPr id="55" name="Group 6">
              <a:extLst>
                <a:ext uri="{FF2B5EF4-FFF2-40B4-BE49-F238E27FC236}">
                  <a16:creationId xmlns:a16="http://schemas.microsoft.com/office/drawing/2014/main" id="{10CB3472-C1AC-A84A-0D3B-03864A2C8834}"/>
                </a:ext>
              </a:extLst>
            </p:cNvPr>
            <p:cNvGrpSpPr/>
            <p:nvPr/>
          </p:nvGrpSpPr>
          <p:grpSpPr>
            <a:xfrm>
              <a:off x="0" y="821440"/>
              <a:ext cx="4048200" cy="732655"/>
              <a:chOff x="0" y="0"/>
              <a:chExt cx="1066193" cy="192963"/>
            </a:xfrm>
          </p:grpSpPr>
          <p:sp>
            <p:nvSpPr>
              <p:cNvPr id="57" name="Freeform 7">
                <a:extLst>
                  <a:ext uri="{FF2B5EF4-FFF2-40B4-BE49-F238E27FC236}">
                    <a16:creationId xmlns:a16="http://schemas.microsoft.com/office/drawing/2014/main" id="{505283D6-7FB8-933A-35C2-ABA65AC4CF02}"/>
                  </a:ext>
                </a:extLst>
              </p:cNvPr>
              <p:cNvSpPr/>
              <p:nvPr/>
            </p:nvSpPr>
            <p:spPr>
              <a:xfrm>
                <a:off x="0" y="0"/>
                <a:ext cx="1066193" cy="192963"/>
              </a:xfrm>
              <a:custGeom>
                <a:avLst/>
                <a:gdLst/>
                <a:ahLst/>
                <a:cxnLst/>
                <a:rect l="l" t="t" r="r" b="b"/>
                <a:pathLst>
                  <a:path w="1066193" h="192963">
                    <a:moveTo>
                      <a:pt x="0" y="0"/>
                    </a:moveTo>
                    <a:lnTo>
                      <a:pt x="1066193" y="0"/>
                    </a:lnTo>
                    <a:lnTo>
                      <a:pt x="1066193" y="192963"/>
                    </a:lnTo>
                    <a:lnTo>
                      <a:pt x="0" y="19296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8" name="TextBox 8">
                <a:extLst>
                  <a:ext uri="{FF2B5EF4-FFF2-40B4-BE49-F238E27FC236}">
                    <a16:creationId xmlns:a16="http://schemas.microsoft.com/office/drawing/2014/main" id="{0C69A1B6-F9B9-A059-CB34-28D24D554E6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066193" cy="2310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56" name="TextBox 16">
              <a:extLst>
                <a:ext uri="{FF2B5EF4-FFF2-40B4-BE49-F238E27FC236}">
                  <a16:creationId xmlns:a16="http://schemas.microsoft.com/office/drawing/2014/main" id="{9875EB0A-F14B-9F9D-7101-DF99C1E63462}"/>
                </a:ext>
              </a:extLst>
            </p:cNvPr>
            <p:cNvSpPr txBox="1"/>
            <p:nvPr/>
          </p:nvSpPr>
          <p:spPr>
            <a:xfrm>
              <a:off x="1028700" y="990600"/>
              <a:ext cx="281232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Ulster University</a:t>
              </a:r>
            </a:p>
          </p:txBody>
        </p:sp>
      </p:grpSp>
      <p:grpSp>
        <p:nvGrpSpPr>
          <p:cNvPr id="83" name="Group 22">
            <a:extLst>
              <a:ext uri="{FF2B5EF4-FFF2-40B4-BE49-F238E27FC236}">
                <a16:creationId xmlns:a16="http://schemas.microsoft.com/office/drawing/2014/main" id="{736A4EEC-9030-0001-3B4E-AA37759A8319}"/>
              </a:ext>
            </a:extLst>
          </p:cNvPr>
          <p:cNvGrpSpPr/>
          <p:nvPr/>
        </p:nvGrpSpPr>
        <p:grpSpPr>
          <a:xfrm>
            <a:off x="9242145" y="6460845"/>
            <a:ext cx="740055" cy="740055"/>
            <a:chOff x="0" y="0"/>
            <a:chExt cx="194912" cy="194912"/>
          </a:xfrm>
        </p:grpSpPr>
        <p:sp>
          <p:nvSpPr>
            <p:cNvPr id="84" name="Freeform 23">
              <a:extLst>
                <a:ext uri="{FF2B5EF4-FFF2-40B4-BE49-F238E27FC236}">
                  <a16:creationId xmlns:a16="http://schemas.microsoft.com/office/drawing/2014/main" id="{8209CAC5-FF5A-2C88-7F0C-60B465B0D2B9}"/>
                </a:ext>
              </a:extLst>
            </p:cNvPr>
            <p:cNvSpPr/>
            <p:nvPr/>
          </p:nvSpPr>
          <p:spPr>
            <a:xfrm>
              <a:off x="0" y="0"/>
              <a:ext cx="194912" cy="194912"/>
            </a:xfrm>
            <a:custGeom>
              <a:avLst/>
              <a:gdLst/>
              <a:ahLst/>
              <a:cxnLst/>
              <a:rect l="l" t="t" r="r" b="b"/>
              <a:pathLst>
                <a:path w="194912" h="194912">
                  <a:moveTo>
                    <a:pt x="0" y="0"/>
                  </a:moveTo>
                  <a:lnTo>
                    <a:pt x="194912" y="0"/>
                  </a:lnTo>
                  <a:lnTo>
                    <a:pt x="194912" y="194912"/>
                  </a:lnTo>
                  <a:lnTo>
                    <a:pt x="0" y="194912"/>
                  </a:lnTo>
                  <a:close/>
                </a:path>
              </a:pathLst>
            </a:custGeom>
            <a:solidFill>
              <a:srgbClr val="C2410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TextBox 24">
              <a:extLst>
                <a:ext uri="{FF2B5EF4-FFF2-40B4-BE49-F238E27FC236}">
                  <a16:creationId xmlns:a16="http://schemas.microsoft.com/office/drawing/2014/main" id="{0A13928B-6E61-63C5-2225-DFEBB7A634B2}"/>
                </a:ext>
              </a:extLst>
            </p:cNvPr>
            <p:cNvSpPr txBox="1"/>
            <p:nvPr/>
          </p:nvSpPr>
          <p:spPr>
            <a:xfrm>
              <a:off x="0" y="-38100"/>
              <a:ext cx="194912" cy="233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6" name="TextBox 25">
            <a:extLst>
              <a:ext uri="{FF2B5EF4-FFF2-40B4-BE49-F238E27FC236}">
                <a16:creationId xmlns:a16="http://schemas.microsoft.com/office/drawing/2014/main" id="{57FCD867-D55D-195E-9080-1DA07AAE095C}"/>
              </a:ext>
            </a:extLst>
          </p:cNvPr>
          <p:cNvSpPr txBox="1"/>
          <p:nvPr/>
        </p:nvSpPr>
        <p:spPr>
          <a:xfrm>
            <a:off x="9296400" y="6633705"/>
            <a:ext cx="59209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05</a:t>
            </a:r>
          </a:p>
        </p:txBody>
      </p:sp>
      <p:sp>
        <p:nvSpPr>
          <p:cNvPr id="87" name="TextBox 26">
            <a:extLst>
              <a:ext uri="{FF2B5EF4-FFF2-40B4-BE49-F238E27FC236}">
                <a16:creationId xmlns:a16="http://schemas.microsoft.com/office/drawing/2014/main" id="{FD392C60-26EE-EFCB-729A-E03A528B6682}"/>
              </a:ext>
            </a:extLst>
          </p:cNvPr>
          <p:cNvSpPr txBox="1"/>
          <p:nvPr/>
        </p:nvSpPr>
        <p:spPr>
          <a:xfrm>
            <a:off x="10475522" y="6235472"/>
            <a:ext cx="5425459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2400" b="1" dirty="0"/>
              <a:t>Convolutional Neural Network (CNN)</a:t>
            </a:r>
          </a:p>
        </p:txBody>
      </p:sp>
      <p:sp>
        <p:nvSpPr>
          <p:cNvPr id="88" name="TextBox 27">
            <a:extLst>
              <a:ext uri="{FF2B5EF4-FFF2-40B4-BE49-F238E27FC236}">
                <a16:creationId xmlns:a16="http://schemas.microsoft.com/office/drawing/2014/main" id="{0CEEAC1D-6467-3442-9DB8-990C619026BC}"/>
              </a:ext>
            </a:extLst>
          </p:cNvPr>
          <p:cNvSpPr txBox="1"/>
          <p:nvPr/>
        </p:nvSpPr>
        <p:spPr>
          <a:xfrm>
            <a:off x="10475522" y="6561610"/>
            <a:ext cx="7431478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dirty="0"/>
              <a:t>Evaluate on held-out test set using R², RMSE, MAE on log scale. Best model: Ridge R²=1.0000, RMSE=0.0118. Back-transform: ŷ = e^y′ − 1.</a:t>
            </a:r>
          </a:p>
        </p:txBody>
      </p:sp>
      <p:grpSp>
        <p:nvGrpSpPr>
          <p:cNvPr id="89" name="Group 28">
            <a:extLst>
              <a:ext uri="{FF2B5EF4-FFF2-40B4-BE49-F238E27FC236}">
                <a16:creationId xmlns:a16="http://schemas.microsoft.com/office/drawing/2014/main" id="{182BA54B-5142-D833-D30F-ACDB027C0A8F}"/>
              </a:ext>
            </a:extLst>
          </p:cNvPr>
          <p:cNvGrpSpPr/>
          <p:nvPr/>
        </p:nvGrpSpPr>
        <p:grpSpPr>
          <a:xfrm>
            <a:off x="9220200" y="7928940"/>
            <a:ext cx="740055" cy="740055"/>
            <a:chOff x="0" y="0"/>
            <a:chExt cx="194912" cy="194912"/>
          </a:xfrm>
        </p:grpSpPr>
        <p:sp>
          <p:nvSpPr>
            <p:cNvPr id="90" name="Freeform 29">
              <a:extLst>
                <a:ext uri="{FF2B5EF4-FFF2-40B4-BE49-F238E27FC236}">
                  <a16:creationId xmlns:a16="http://schemas.microsoft.com/office/drawing/2014/main" id="{770CB575-4592-1586-6C37-0F4B79B0F982}"/>
                </a:ext>
              </a:extLst>
            </p:cNvPr>
            <p:cNvSpPr/>
            <p:nvPr/>
          </p:nvSpPr>
          <p:spPr>
            <a:xfrm>
              <a:off x="0" y="0"/>
              <a:ext cx="194912" cy="194912"/>
            </a:xfrm>
            <a:custGeom>
              <a:avLst/>
              <a:gdLst/>
              <a:ahLst/>
              <a:cxnLst/>
              <a:rect l="l" t="t" r="r" b="b"/>
              <a:pathLst>
                <a:path w="194912" h="194912">
                  <a:moveTo>
                    <a:pt x="0" y="0"/>
                  </a:moveTo>
                  <a:lnTo>
                    <a:pt x="194912" y="0"/>
                  </a:lnTo>
                  <a:lnTo>
                    <a:pt x="194912" y="194912"/>
                  </a:lnTo>
                  <a:lnTo>
                    <a:pt x="0" y="194912"/>
                  </a:lnTo>
                  <a:close/>
                </a:path>
              </a:pathLst>
            </a:custGeom>
            <a:solidFill>
              <a:srgbClr val="C2410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1" name="TextBox 30">
              <a:extLst>
                <a:ext uri="{FF2B5EF4-FFF2-40B4-BE49-F238E27FC236}">
                  <a16:creationId xmlns:a16="http://schemas.microsoft.com/office/drawing/2014/main" id="{1F5C5E28-91E2-842B-2C09-D3203CDB6348}"/>
                </a:ext>
              </a:extLst>
            </p:cNvPr>
            <p:cNvSpPr txBox="1"/>
            <p:nvPr/>
          </p:nvSpPr>
          <p:spPr>
            <a:xfrm>
              <a:off x="0" y="-38100"/>
              <a:ext cx="194912" cy="233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2" name="TextBox 31">
            <a:extLst>
              <a:ext uri="{FF2B5EF4-FFF2-40B4-BE49-F238E27FC236}">
                <a16:creationId xmlns:a16="http://schemas.microsoft.com/office/drawing/2014/main" id="{5ADABFA6-9A93-548D-495B-200DFF3286AA}"/>
              </a:ext>
            </a:extLst>
          </p:cNvPr>
          <p:cNvSpPr txBox="1"/>
          <p:nvPr/>
        </p:nvSpPr>
        <p:spPr>
          <a:xfrm>
            <a:off x="9313909" y="8101800"/>
            <a:ext cx="59209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06</a:t>
            </a:r>
          </a:p>
        </p:txBody>
      </p:sp>
      <p:sp>
        <p:nvSpPr>
          <p:cNvPr id="93" name="TextBox 32">
            <a:extLst>
              <a:ext uri="{FF2B5EF4-FFF2-40B4-BE49-F238E27FC236}">
                <a16:creationId xmlns:a16="http://schemas.microsoft.com/office/drawing/2014/main" id="{E1E53268-6153-DF20-48FC-4FE13ED4BB52}"/>
              </a:ext>
            </a:extLst>
          </p:cNvPr>
          <p:cNvSpPr txBox="1"/>
          <p:nvPr/>
        </p:nvSpPr>
        <p:spPr>
          <a:xfrm>
            <a:off x="10495325" y="7658100"/>
            <a:ext cx="5425459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2400" b="1" dirty="0"/>
              <a:t>Vision Transformer (</a:t>
            </a:r>
            <a:r>
              <a:rPr lang="en-US" sz="2400" b="1" dirty="0" err="1"/>
              <a:t>ViT</a:t>
            </a:r>
            <a:r>
              <a:rPr lang="en-US" sz="2400" b="1" dirty="0"/>
              <a:t>)</a:t>
            </a:r>
          </a:p>
        </p:txBody>
      </p:sp>
      <p:sp>
        <p:nvSpPr>
          <p:cNvPr id="94" name="TextBox 33">
            <a:extLst>
              <a:ext uri="{FF2B5EF4-FFF2-40B4-BE49-F238E27FC236}">
                <a16:creationId xmlns:a16="http://schemas.microsoft.com/office/drawing/2014/main" id="{F58DD49D-88E6-FC1A-9795-0563B9AD3B9D}"/>
              </a:ext>
            </a:extLst>
          </p:cNvPr>
          <p:cNvSpPr txBox="1"/>
          <p:nvPr/>
        </p:nvSpPr>
        <p:spPr>
          <a:xfrm>
            <a:off x="10495325" y="8029705"/>
            <a:ext cx="7431478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dirty="0"/>
              <a:t>FastAPI inference service → Docker (Python 3.12-slim, non-root). GitHub Actions: lint → test → ECR push → ECS rolling deploy. AWS ECS Fargate (2 tasks, ALB, auto-scaling).</a:t>
            </a:r>
          </a:p>
        </p:txBody>
      </p:sp>
      <p:grpSp>
        <p:nvGrpSpPr>
          <p:cNvPr id="107" name="Group 28">
            <a:extLst>
              <a:ext uri="{FF2B5EF4-FFF2-40B4-BE49-F238E27FC236}">
                <a16:creationId xmlns:a16="http://schemas.microsoft.com/office/drawing/2014/main" id="{3C7B536D-AA2C-412D-5C20-B20CE45A8340}"/>
              </a:ext>
            </a:extLst>
          </p:cNvPr>
          <p:cNvGrpSpPr/>
          <p:nvPr/>
        </p:nvGrpSpPr>
        <p:grpSpPr>
          <a:xfrm>
            <a:off x="9220200" y="9337686"/>
            <a:ext cx="740055" cy="740055"/>
            <a:chOff x="0" y="0"/>
            <a:chExt cx="194912" cy="194912"/>
          </a:xfrm>
        </p:grpSpPr>
        <p:sp>
          <p:nvSpPr>
            <p:cNvPr id="108" name="Freeform 29">
              <a:extLst>
                <a:ext uri="{FF2B5EF4-FFF2-40B4-BE49-F238E27FC236}">
                  <a16:creationId xmlns:a16="http://schemas.microsoft.com/office/drawing/2014/main" id="{DD6EC703-186E-99DE-3B32-2B53755DB932}"/>
                </a:ext>
              </a:extLst>
            </p:cNvPr>
            <p:cNvSpPr/>
            <p:nvPr/>
          </p:nvSpPr>
          <p:spPr>
            <a:xfrm>
              <a:off x="0" y="0"/>
              <a:ext cx="194912" cy="194912"/>
            </a:xfrm>
            <a:custGeom>
              <a:avLst/>
              <a:gdLst/>
              <a:ahLst/>
              <a:cxnLst/>
              <a:rect l="l" t="t" r="r" b="b"/>
              <a:pathLst>
                <a:path w="194912" h="194912">
                  <a:moveTo>
                    <a:pt x="0" y="0"/>
                  </a:moveTo>
                  <a:lnTo>
                    <a:pt x="194912" y="0"/>
                  </a:lnTo>
                  <a:lnTo>
                    <a:pt x="194912" y="194912"/>
                  </a:lnTo>
                  <a:lnTo>
                    <a:pt x="0" y="194912"/>
                  </a:lnTo>
                  <a:close/>
                </a:path>
              </a:pathLst>
            </a:custGeom>
            <a:solidFill>
              <a:srgbClr val="C2410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9" name="TextBox 30">
              <a:extLst>
                <a:ext uri="{FF2B5EF4-FFF2-40B4-BE49-F238E27FC236}">
                  <a16:creationId xmlns:a16="http://schemas.microsoft.com/office/drawing/2014/main" id="{80A1937A-F147-30D3-6254-21E019A824CA}"/>
                </a:ext>
              </a:extLst>
            </p:cNvPr>
            <p:cNvSpPr txBox="1"/>
            <p:nvPr/>
          </p:nvSpPr>
          <p:spPr>
            <a:xfrm>
              <a:off x="0" y="-38100"/>
              <a:ext cx="194912" cy="233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10" name="TextBox 31">
            <a:extLst>
              <a:ext uri="{FF2B5EF4-FFF2-40B4-BE49-F238E27FC236}">
                <a16:creationId xmlns:a16="http://schemas.microsoft.com/office/drawing/2014/main" id="{99DA88DE-7CB5-74E1-06C9-05E3BEEC4FD2}"/>
              </a:ext>
            </a:extLst>
          </p:cNvPr>
          <p:cNvSpPr txBox="1"/>
          <p:nvPr/>
        </p:nvSpPr>
        <p:spPr>
          <a:xfrm>
            <a:off x="9296400" y="9510546"/>
            <a:ext cx="59209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07</a:t>
            </a:r>
          </a:p>
        </p:txBody>
      </p:sp>
      <p:sp>
        <p:nvSpPr>
          <p:cNvPr id="111" name="TextBox 32">
            <a:extLst>
              <a:ext uri="{FF2B5EF4-FFF2-40B4-BE49-F238E27FC236}">
                <a16:creationId xmlns:a16="http://schemas.microsoft.com/office/drawing/2014/main" id="{A1F456BC-7366-3EF7-A516-296331FD5F4A}"/>
              </a:ext>
            </a:extLst>
          </p:cNvPr>
          <p:cNvSpPr txBox="1"/>
          <p:nvPr/>
        </p:nvSpPr>
        <p:spPr>
          <a:xfrm>
            <a:off x="10510565" y="9069119"/>
            <a:ext cx="5425459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2400" b="1" dirty="0"/>
              <a:t>Models Training</a:t>
            </a:r>
          </a:p>
        </p:txBody>
      </p:sp>
      <p:sp>
        <p:nvSpPr>
          <p:cNvPr id="112" name="TextBox 33">
            <a:extLst>
              <a:ext uri="{FF2B5EF4-FFF2-40B4-BE49-F238E27FC236}">
                <a16:creationId xmlns:a16="http://schemas.microsoft.com/office/drawing/2014/main" id="{E8DB7E9D-C304-25DE-9DE2-9EF394C63C0E}"/>
              </a:ext>
            </a:extLst>
          </p:cNvPr>
          <p:cNvSpPr txBox="1"/>
          <p:nvPr/>
        </p:nvSpPr>
        <p:spPr>
          <a:xfrm>
            <a:off x="10526851" y="9438451"/>
            <a:ext cx="7411675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dirty="0"/>
              <a:t>Prometheus scrapes /metrics every 15s. 4 alert rules: APIDown · HighErrorRate · SlowPredictions · NoTraffic. Grafana 6-panel dashboard. Slack webhook notifications.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1790700"/>
            <a:ext cx="18288000" cy="6457449"/>
            <a:chOff x="0" y="0"/>
            <a:chExt cx="4816593" cy="12844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1284404"/>
            </a:xfrm>
            <a:custGeom>
              <a:avLst/>
              <a:gdLst/>
              <a:ahLst/>
              <a:cxnLst/>
              <a:rect l="l" t="t" r="r" b="b"/>
              <a:pathLst>
                <a:path w="4816592" h="1284404">
                  <a:moveTo>
                    <a:pt x="0" y="0"/>
                  </a:moveTo>
                  <a:lnTo>
                    <a:pt x="4816592" y="0"/>
                  </a:lnTo>
                  <a:lnTo>
                    <a:pt x="4816592" y="1284404"/>
                  </a:lnTo>
                  <a:lnTo>
                    <a:pt x="0" y="12844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6593" cy="1322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1790700"/>
            <a:ext cx="18288000" cy="6457449"/>
            <a:chOff x="0" y="0"/>
            <a:chExt cx="2833290" cy="7555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33290" cy="755532"/>
            </a:xfrm>
            <a:custGeom>
              <a:avLst/>
              <a:gdLst/>
              <a:ahLst/>
              <a:cxnLst/>
              <a:rect l="l" t="t" r="r" b="b"/>
              <a:pathLst>
                <a:path w="2833290" h="755532">
                  <a:moveTo>
                    <a:pt x="0" y="0"/>
                  </a:moveTo>
                  <a:lnTo>
                    <a:pt x="2833290" y="0"/>
                  </a:lnTo>
                  <a:lnTo>
                    <a:pt x="2833290" y="755532"/>
                  </a:lnTo>
                  <a:lnTo>
                    <a:pt x="0" y="755532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 t="-75002" b="-7500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2699187"/>
            <a:ext cx="5210121" cy="4997788"/>
            <a:chOff x="0" y="0"/>
            <a:chExt cx="6946829" cy="5032496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6946829" cy="5032496"/>
              <a:chOff x="0" y="0"/>
              <a:chExt cx="1372213" cy="99407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372213" cy="994073"/>
              </a:xfrm>
              <a:custGeom>
                <a:avLst/>
                <a:gdLst/>
                <a:ahLst/>
                <a:cxnLst/>
                <a:rect l="l" t="t" r="r" b="b"/>
                <a:pathLst>
                  <a:path w="1372213" h="994073">
                    <a:moveTo>
                      <a:pt x="0" y="0"/>
                    </a:moveTo>
                    <a:lnTo>
                      <a:pt x="1372213" y="0"/>
                    </a:lnTo>
                    <a:lnTo>
                      <a:pt x="1372213" y="994073"/>
                    </a:lnTo>
                    <a:lnTo>
                      <a:pt x="0" y="99407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372213" cy="10321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2980044" y="643879"/>
              <a:ext cx="986741" cy="986741"/>
              <a:chOff x="0" y="0"/>
              <a:chExt cx="194912" cy="19491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94912" cy="194912"/>
              </a:xfrm>
              <a:custGeom>
                <a:avLst/>
                <a:gdLst/>
                <a:ahLst/>
                <a:cxnLst/>
                <a:rect l="l" t="t" r="r" b="b"/>
                <a:pathLst>
                  <a:path w="194912" h="194912">
                    <a:moveTo>
                      <a:pt x="0" y="0"/>
                    </a:moveTo>
                    <a:lnTo>
                      <a:pt x="194912" y="0"/>
                    </a:lnTo>
                    <a:lnTo>
                      <a:pt x="194912" y="194912"/>
                    </a:lnTo>
                    <a:lnTo>
                      <a:pt x="0" y="19491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194912" cy="233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078687" y="887059"/>
              <a:ext cx="789455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4799" y="2180571"/>
              <a:ext cx="5497231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Preprocessing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4799" y="2744601"/>
              <a:ext cx="5497231" cy="16825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MRI images are normalized, resized, skull-stripped (for </a:t>
              </a:r>
              <a:r>
                <a:rPr lang="en-US" sz="1800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ADNI</a:t>
              </a:r>
              <a:r>
                <a:rPr lang="en-US" sz="1800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), and anatomically relevant slices are selected.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38939" y="2699187"/>
            <a:ext cx="5210121" cy="4997788"/>
            <a:chOff x="0" y="0"/>
            <a:chExt cx="6946829" cy="5032496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6946829" cy="5032496"/>
              <a:chOff x="0" y="0"/>
              <a:chExt cx="1372213" cy="99407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372213" cy="994073"/>
              </a:xfrm>
              <a:custGeom>
                <a:avLst/>
                <a:gdLst/>
                <a:ahLst/>
                <a:cxnLst/>
                <a:rect l="l" t="t" r="r" b="b"/>
                <a:pathLst>
                  <a:path w="1372213" h="994073">
                    <a:moveTo>
                      <a:pt x="0" y="0"/>
                    </a:moveTo>
                    <a:lnTo>
                      <a:pt x="1372213" y="0"/>
                    </a:lnTo>
                    <a:lnTo>
                      <a:pt x="1372213" y="994073"/>
                    </a:lnTo>
                    <a:lnTo>
                      <a:pt x="0" y="99407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372213" cy="10321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2980044" y="643879"/>
              <a:ext cx="986741" cy="986741"/>
              <a:chOff x="0" y="0"/>
              <a:chExt cx="194912" cy="19491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94912" cy="194912"/>
              </a:xfrm>
              <a:custGeom>
                <a:avLst/>
                <a:gdLst/>
                <a:ahLst/>
                <a:cxnLst/>
                <a:rect l="l" t="t" r="r" b="b"/>
                <a:pathLst>
                  <a:path w="194912" h="194912">
                    <a:moveTo>
                      <a:pt x="0" y="0"/>
                    </a:moveTo>
                    <a:lnTo>
                      <a:pt x="194912" y="0"/>
                    </a:lnTo>
                    <a:lnTo>
                      <a:pt x="194912" y="194912"/>
                    </a:lnTo>
                    <a:lnTo>
                      <a:pt x="0" y="19491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94912" cy="233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3078687" y="887059"/>
              <a:ext cx="789455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02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4799" y="2180571"/>
              <a:ext cx="5497231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Feature Preparation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4799" y="2744601"/>
              <a:ext cx="5497231" cy="16825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Images are either flattened into vectors for classical ML models or encoded into deep features using a </a:t>
              </a:r>
              <a:r>
                <a:rPr lang="en-US" sz="1800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VGG</a:t>
              </a:r>
              <a:r>
                <a:rPr lang="en-US" sz="1800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-based extractor.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049179" y="2699187"/>
            <a:ext cx="5210121" cy="4997788"/>
            <a:chOff x="0" y="0"/>
            <a:chExt cx="6946829" cy="5032496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6946829" cy="5032496"/>
              <a:chOff x="0" y="0"/>
              <a:chExt cx="1372213" cy="99407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372213" cy="994073"/>
              </a:xfrm>
              <a:custGeom>
                <a:avLst/>
                <a:gdLst/>
                <a:ahLst/>
                <a:cxnLst/>
                <a:rect l="l" t="t" r="r" b="b"/>
                <a:pathLst>
                  <a:path w="1372213" h="994073">
                    <a:moveTo>
                      <a:pt x="0" y="0"/>
                    </a:moveTo>
                    <a:lnTo>
                      <a:pt x="1372213" y="0"/>
                    </a:lnTo>
                    <a:lnTo>
                      <a:pt x="1372213" y="994073"/>
                    </a:lnTo>
                    <a:lnTo>
                      <a:pt x="0" y="99407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1372213" cy="10321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2980044" y="643879"/>
              <a:ext cx="986741" cy="986741"/>
              <a:chOff x="0" y="0"/>
              <a:chExt cx="194912" cy="19491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94912" cy="194912"/>
              </a:xfrm>
              <a:custGeom>
                <a:avLst/>
                <a:gdLst/>
                <a:ahLst/>
                <a:cxnLst/>
                <a:rect l="l" t="t" r="r" b="b"/>
                <a:pathLst>
                  <a:path w="194912" h="194912">
                    <a:moveTo>
                      <a:pt x="0" y="0"/>
                    </a:moveTo>
                    <a:lnTo>
                      <a:pt x="194912" y="0"/>
                    </a:lnTo>
                    <a:lnTo>
                      <a:pt x="194912" y="194912"/>
                    </a:lnTo>
                    <a:lnTo>
                      <a:pt x="0" y="19491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194912" cy="233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3078687" y="887059"/>
              <a:ext cx="789455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03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4799" y="2180571"/>
              <a:ext cx="5497231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Data Splitting &amp; Augmentation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4799" y="2744601"/>
              <a:ext cx="5497231" cy="16825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Data is stratified into training, validation, and test sets, with augmentation applied only to training samples.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07FC75C-767F-B50B-6A79-2AD817BD9435}"/>
              </a:ext>
            </a:extLst>
          </p:cNvPr>
          <p:cNvGrpSpPr/>
          <p:nvPr/>
        </p:nvGrpSpPr>
        <p:grpSpPr>
          <a:xfrm>
            <a:off x="0" y="23271"/>
            <a:ext cx="18288000" cy="1005429"/>
            <a:chOff x="0" y="23271"/>
            <a:chExt cx="18288000" cy="1005429"/>
          </a:xfrm>
        </p:grpSpPr>
        <p:grpSp>
          <p:nvGrpSpPr>
            <p:cNvPr id="48" name="Group 2">
              <a:extLst>
                <a:ext uri="{FF2B5EF4-FFF2-40B4-BE49-F238E27FC236}">
                  <a16:creationId xmlns:a16="http://schemas.microsoft.com/office/drawing/2014/main" id="{DA227DDD-2058-800B-6A37-FBBB0660FBA3}"/>
                </a:ext>
              </a:extLst>
            </p:cNvPr>
            <p:cNvGrpSpPr/>
            <p:nvPr/>
          </p:nvGrpSpPr>
          <p:grpSpPr>
            <a:xfrm>
              <a:off x="15882727" y="23271"/>
              <a:ext cx="2405273" cy="732655"/>
              <a:chOff x="0" y="0"/>
              <a:chExt cx="633488" cy="192963"/>
            </a:xfrm>
          </p:grpSpPr>
          <p:sp>
            <p:nvSpPr>
              <p:cNvPr id="57" name="Freeform 3">
                <a:extLst>
                  <a:ext uri="{FF2B5EF4-FFF2-40B4-BE49-F238E27FC236}">
                    <a16:creationId xmlns:a16="http://schemas.microsoft.com/office/drawing/2014/main" id="{0D2F1927-B5FD-1E3A-7879-8CF369B6BE8F}"/>
                  </a:ext>
                </a:extLst>
              </p:cNvPr>
              <p:cNvSpPr/>
              <p:nvPr/>
            </p:nvSpPr>
            <p:spPr>
              <a:xfrm>
                <a:off x="0" y="0"/>
                <a:ext cx="633488" cy="192963"/>
              </a:xfrm>
              <a:custGeom>
                <a:avLst/>
                <a:gdLst/>
                <a:ahLst/>
                <a:cxnLst/>
                <a:rect l="l" t="t" r="r" b="b"/>
                <a:pathLst>
                  <a:path w="633488" h="192963">
                    <a:moveTo>
                      <a:pt x="0" y="0"/>
                    </a:moveTo>
                    <a:lnTo>
                      <a:pt x="633488" y="0"/>
                    </a:lnTo>
                    <a:lnTo>
                      <a:pt x="633488" y="192963"/>
                    </a:lnTo>
                    <a:lnTo>
                      <a:pt x="0" y="19296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8" name="TextBox 4">
                <a:extLst>
                  <a:ext uri="{FF2B5EF4-FFF2-40B4-BE49-F238E27FC236}">
                    <a16:creationId xmlns:a16="http://schemas.microsoft.com/office/drawing/2014/main" id="{4608918B-5DA2-60A4-71B8-DDA6CFEED17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33488" cy="2310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49" name="TextBox 12">
              <a:extLst>
                <a:ext uri="{FF2B5EF4-FFF2-40B4-BE49-F238E27FC236}">
                  <a16:creationId xmlns:a16="http://schemas.microsoft.com/office/drawing/2014/main" id="{779A3757-0FB3-78D4-806A-386CE9BA6C30}"/>
                </a:ext>
              </a:extLst>
            </p:cNvPr>
            <p:cNvSpPr txBox="1"/>
            <p:nvPr/>
          </p:nvSpPr>
          <p:spPr>
            <a:xfrm>
              <a:off x="4267199" y="99471"/>
              <a:ext cx="10586827" cy="929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679"/>
                </a:lnSpc>
              </a:pPr>
              <a:r>
                <a:rPr lang="en-US" sz="6399" b="1" dirty="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DATA PREPROCESSING</a:t>
              </a:r>
            </a:p>
          </p:txBody>
        </p:sp>
        <p:sp>
          <p:nvSpPr>
            <p:cNvPr id="50" name="TextBox 14">
              <a:extLst>
                <a:ext uri="{FF2B5EF4-FFF2-40B4-BE49-F238E27FC236}">
                  <a16:creationId xmlns:a16="http://schemas.microsoft.com/office/drawing/2014/main" id="{39524900-15F7-2F79-0432-D00FBFBC7485}"/>
                </a:ext>
              </a:extLst>
            </p:cNvPr>
            <p:cNvSpPr txBox="1"/>
            <p:nvPr/>
          </p:nvSpPr>
          <p:spPr>
            <a:xfrm>
              <a:off x="1028700" y="192431"/>
              <a:ext cx="281232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Giggling Platypus Co.</a:t>
              </a:r>
            </a:p>
          </p:txBody>
        </p:sp>
        <p:sp>
          <p:nvSpPr>
            <p:cNvPr id="51" name="TextBox 15">
              <a:extLst>
                <a:ext uri="{FF2B5EF4-FFF2-40B4-BE49-F238E27FC236}">
                  <a16:creationId xmlns:a16="http://schemas.microsoft.com/office/drawing/2014/main" id="{DFAECA7E-362E-74A1-9EE1-153CCDF3BB1C}"/>
                </a:ext>
              </a:extLst>
            </p:cNvPr>
            <p:cNvSpPr txBox="1"/>
            <p:nvPr/>
          </p:nvSpPr>
          <p:spPr>
            <a:xfrm>
              <a:off x="15882727" y="192431"/>
              <a:ext cx="137657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Page 09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0A41B78-C654-71C5-0B9F-53B382E2FAAE}"/>
                </a:ext>
              </a:extLst>
            </p:cNvPr>
            <p:cNvGrpSpPr/>
            <p:nvPr/>
          </p:nvGrpSpPr>
          <p:grpSpPr>
            <a:xfrm>
              <a:off x="0" y="23271"/>
              <a:ext cx="4048200" cy="732655"/>
              <a:chOff x="0" y="821440"/>
              <a:chExt cx="4048200" cy="732655"/>
            </a:xfrm>
          </p:grpSpPr>
          <p:grpSp>
            <p:nvGrpSpPr>
              <p:cNvPr id="53" name="Group 6">
                <a:extLst>
                  <a:ext uri="{FF2B5EF4-FFF2-40B4-BE49-F238E27FC236}">
                    <a16:creationId xmlns:a16="http://schemas.microsoft.com/office/drawing/2014/main" id="{309714BF-60E9-9DF1-1F7B-63C73A261CFE}"/>
                  </a:ext>
                </a:extLst>
              </p:cNvPr>
              <p:cNvGrpSpPr/>
              <p:nvPr/>
            </p:nvGrpSpPr>
            <p:grpSpPr>
              <a:xfrm>
                <a:off x="0" y="821440"/>
                <a:ext cx="4048200" cy="732655"/>
                <a:chOff x="0" y="0"/>
                <a:chExt cx="1066193" cy="192963"/>
              </a:xfrm>
            </p:grpSpPr>
            <p:sp>
              <p:nvSpPr>
                <p:cNvPr id="55" name="Freeform 7">
                  <a:extLst>
                    <a:ext uri="{FF2B5EF4-FFF2-40B4-BE49-F238E27FC236}">
                      <a16:creationId xmlns:a16="http://schemas.microsoft.com/office/drawing/2014/main" id="{CF61D266-FC5B-FAC7-4E4E-A8A707FEF26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66193" cy="192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193" h="192963">
                      <a:moveTo>
                        <a:pt x="0" y="0"/>
                      </a:moveTo>
                      <a:lnTo>
                        <a:pt x="1066193" y="0"/>
                      </a:lnTo>
                      <a:lnTo>
                        <a:pt x="1066193" y="192963"/>
                      </a:lnTo>
                      <a:lnTo>
                        <a:pt x="0" y="192963"/>
                      </a:lnTo>
                      <a:close/>
                    </a:path>
                  </a:pathLst>
                </a:custGeom>
                <a:solidFill>
                  <a:srgbClr val="C2410A"/>
                </a:solidFill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6" name="TextBox 8">
                  <a:extLst>
                    <a:ext uri="{FF2B5EF4-FFF2-40B4-BE49-F238E27FC236}">
                      <a16:creationId xmlns:a16="http://schemas.microsoft.com/office/drawing/2014/main" id="{F2E240BD-E1C8-D014-4DF5-CD57754FDC3A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066193" cy="23106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940"/>
                    </a:lnSpc>
                  </a:pPr>
                  <a:endParaRPr/>
                </a:p>
              </p:txBody>
            </p:sp>
          </p:grpSp>
          <p:sp>
            <p:nvSpPr>
              <p:cNvPr id="54" name="TextBox 16">
                <a:extLst>
                  <a:ext uri="{FF2B5EF4-FFF2-40B4-BE49-F238E27FC236}">
                    <a16:creationId xmlns:a16="http://schemas.microsoft.com/office/drawing/2014/main" id="{7F7288DA-C5D7-99F3-123E-B63A7A356452}"/>
                  </a:ext>
                </a:extLst>
              </p:cNvPr>
              <p:cNvSpPr txBox="1"/>
              <p:nvPr/>
            </p:nvSpPr>
            <p:spPr>
              <a:xfrm>
                <a:off x="1028700" y="990600"/>
                <a:ext cx="2812323" cy="35623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940"/>
                  </a:lnSpc>
                  <a:spcBef>
                    <a:spcPct val="0"/>
                  </a:spcBef>
                </a:pPr>
                <a:r>
                  <a:rPr lang="en-US" sz="2100" b="1" dirty="0">
                    <a:solidFill>
                      <a:srgbClr val="FFFFFF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Ulster University</a:t>
                </a: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1028700" y="990600"/>
            <a:ext cx="281232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Giggling Platypus Co.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737572" y="7092611"/>
            <a:ext cx="740055" cy="740055"/>
            <a:chOff x="0" y="0"/>
            <a:chExt cx="194912" cy="19491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4912" cy="194912"/>
            </a:xfrm>
            <a:custGeom>
              <a:avLst/>
              <a:gdLst/>
              <a:ahLst/>
              <a:cxnLst/>
              <a:rect l="l" t="t" r="r" b="b"/>
              <a:pathLst>
                <a:path w="194912" h="194912">
                  <a:moveTo>
                    <a:pt x="0" y="0"/>
                  </a:moveTo>
                  <a:lnTo>
                    <a:pt x="194912" y="0"/>
                  </a:lnTo>
                  <a:lnTo>
                    <a:pt x="194912" y="194912"/>
                  </a:lnTo>
                  <a:lnTo>
                    <a:pt x="0" y="194912"/>
                  </a:lnTo>
                  <a:close/>
                </a:path>
              </a:pathLst>
            </a:custGeom>
            <a:solidFill>
              <a:srgbClr val="C2410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94912" cy="233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771109" y="7277100"/>
            <a:ext cx="59209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936498" y="7351195"/>
            <a:ext cx="6818102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/>
              <a:t>Model Accuracies on 4-Class OASIS-Style MRI Dataset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36498" y="7799371"/>
            <a:ext cx="6357971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On the curated OASIS dataset, CNN and hybrid deep-feature </a:t>
            </a:r>
            <a:r>
              <a:rPr lang="en-US" sz="2400" dirty="0" err="1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SVM</a:t>
            </a:r>
            <a:r>
              <a:rPr lang="en-US" sz="24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 models dominate, reaching near-ceiling performance compared to classical ML baselines.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-17585" y="7070445"/>
            <a:ext cx="740055" cy="740055"/>
            <a:chOff x="0" y="0"/>
            <a:chExt cx="194912" cy="19491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4912" cy="194912"/>
            </a:xfrm>
            <a:custGeom>
              <a:avLst/>
              <a:gdLst/>
              <a:ahLst/>
              <a:cxnLst/>
              <a:rect l="l" t="t" r="r" b="b"/>
              <a:pathLst>
                <a:path w="194912" h="194912">
                  <a:moveTo>
                    <a:pt x="0" y="0"/>
                  </a:moveTo>
                  <a:lnTo>
                    <a:pt x="194912" y="0"/>
                  </a:lnTo>
                  <a:lnTo>
                    <a:pt x="194912" y="194912"/>
                  </a:lnTo>
                  <a:lnTo>
                    <a:pt x="0" y="194912"/>
                  </a:lnTo>
                  <a:close/>
                </a:path>
              </a:pathLst>
            </a:custGeom>
            <a:solidFill>
              <a:srgbClr val="C2410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94912" cy="233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509" y="7225665"/>
            <a:ext cx="59209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Actual vs. Predicted — Ridge (R²=1.0000)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All scatter points lie exactly on the y=x line.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Near-perfect prediction after log-normalisation.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70107" y="7351195"/>
            <a:ext cx="6357971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b="1" dirty="0"/>
              <a:t>All 3 Models Achieve R² &gt; 0.997</a:t>
            </a:r>
          </a:p>
          <a:p>
            <a:r>
              <a:rPr lang="en-US" sz="2400" b="1" dirty="0"/>
              <a:t>Ridge &gt; Gradient Boosting &gt; Random Forest.</a:t>
            </a:r>
          </a:p>
          <a:p>
            <a:r>
              <a:rPr lang="en-US" sz="2400" b="1" dirty="0"/>
              <a:t>Log-lag feature drives near-linear relationship.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1340" y="7772644"/>
            <a:ext cx="6357971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2400" dirty="0"/>
              <a:t>Deep and hybrid models significantly outperform classical machine learning methods, with </a:t>
            </a:r>
            <a:r>
              <a:rPr lang="en-US" sz="2400" b="1" dirty="0" err="1"/>
              <a:t>SVM</a:t>
            </a:r>
            <a:r>
              <a:rPr lang="en-US" sz="2400" b="1" dirty="0"/>
              <a:t> (RBF)</a:t>
            </a:r>
            <a:r>
              <a:rPr lang="en-US" sz="2400" dirty="0"/>
              <a:t> achieving the highest accuracy, while </a:t>
            </a:r>
            <a:r>
              <a:rPr lang="en-US" sz="2400" b="1" dirty="0" err="1"/>
              <a:t>ViT</a:t>
            </a:r>
            <a:r>
              <a:rPr lang="en-US" sz="2400" b="1" dirty="0"/>
              <a:t> demonstrates strong robustness on clinical </a:t>
            </a:r>
            <a:r>
              <a:rPr lang="en-US" sz="2400" b="1" dirty="0" err="1"/>
              <a:t>ADNI</a:t>
            </a:r>
            <a:r>
              <a:rPr lang="en-US" sz="2400" b="1" dirty="0"/>
              <a:t> data</a:t>
            </a:r>
            <a:r>
              <a:rPr lang="en-US" sz="2400" dirty="0"/>
              <a:t>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4555595-A11D-F02E-D1FB-5FCC52E1C5B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" t="7838"/>
          <a:stretch>
            <a:fillRect/>
          </a:stretch>
        </p:blipFill>
        <p:spPr bwMode="auto">
          <a:xfrm>
            <a:off x="8877301" y="1346835"/>
            <a:ext cx="9182099" cy="56669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F28EBCE5-0E0A-199B-E50B-1847C6278B0A}"/>
              </a:ext>
            </a:extLst>
          </p:cNvPr>
          <p:cNvGrpSpPr/>
          <p:nvPr/>
        </p:nvGrpSpPr>
        <p:grpSpPr>
          <a:xfrm>
            <a:off x="0" y="23271"/>
            <a:ext cx="18288000" cy="1020258"/>
            <a:chOff x="0" y="23271"/>
            <a:chExt cx="18288000" cy="1020258"/>
          </a:xfrm>
        </p:grpSpPr>
        <p:grpSp>
          <p:nvGrpSpPr>
            <p:cNvPr id="29" name="Group 2">
              <a:extLst>
                <a:ext uri="{FF2B5EF4-FFF2-40B4-BE49-F238E27FC236}">
                  <a16:creationId xmlns:a16="http://schemas.microsoft.com/office/drawing/2014/main" id="{CA428586-BB3D-C6F2-F71C-9FBB9ADBE8EC}"/>
                </a:ext>
              </a:extLst>
            </p:cNvPr>
            <p:cNvGrpSpPr/>
            <p:nvPr/>
          </p:nvGrpSpPr>
          <p:grpSpPr>
            <a:xfrm>
              <a:off x="15882727" y="23271"/>
              <a:ext cx="2405273" cy="732655"/>
              <a:chOff x="0" y="0"/>
              <a:chExt cx="633488" cy="192963"/>
            </a:xfrm>
          </p:grpSpPr>
          <p:sp>
            <p:nvSpPr>
              <p:cNvPr id="38" name="Freeform 3">
                <a:extLst>
                  <a:ext uri="{FF2B5EF4-FFF2-40B4-BE49-F238E27FC236}">
                    <a16:creationId xmlns:a16="http://schemas.microsoft.com/office/drawing/2014/main" id="{08D44D64-E160-DAAA-7E18-0B9E37DF01C4}"/>
                  </a:ext>
                </a:extLst>
              </p:cNvPr>
              <p:cNvSpPr/>
              <p:nvPr/>
            </p:nvSpPr>
            <p:spPr>
              <a:xfrm>
                <a:off x="0" y="0"/>
                <a:ext cx="633488" cy="192963"/>
              </a:xfrm>
              <a:custGeom>
                <a:avLst/>
                <a:gdLst/>
                <a:ahLst/>
                <a:cxnLst/>
                <a:rect l="l" t="t" r="r" b="b"/>
                <a:pathLst>
                  <a:path w="633488" h="192963">
                    <a:moveTo>
                      <a:pt x="0" y="0"/>
                    </a:moveTo>
                    <a:lnTo>
                      <a:pt x="633488" y="0"/>
                    </a:lnTo>
                    <a:lnTo>
                      <a:pt x="633488" y="192963"/>
                    </a:lnTo>
                    <a:lnTo>
                      <a:pt x="0" y="19296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9" name="TextBox 4">
                <a:extLst>
                  <a:ext uri="{FF2B5EF4-FFF2-40B4-BE49-F238E27FC236}">
                    <a16:creationId xmlns:a16="http://schemas.microsoft.com/office/drawing/2014/main" id="{453A68B0-4D93-3C06-62B2-8D13BD3D372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33488" cy="2310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30" name="TextBox 12">
              <a:extLst>
                <a:ext uri="{FF2B5EF4-FFF2-40B4-BE49-F238E27FC236}">
                  <a16:creationId xmlns:a16="http://schemas.microsoft.com/office/drawing/2014/main" id="{9172A1E9-C459-93FF-8716-E666804E31E1}"/>
                </a:ext>
              </a:extLst>
            </p:cNvPr>
            <p:cNvSpPr txBox="1"/>
            <p:nvPr/>
          </p:nvSpPr>
          <p:spPr>
            <a:xfrm>
              <a:off x="4267199" y="114300"/>
              <a:ext cx="10586827" cy="929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679"/>
                </a:lnSpc>
              </a:pPr>
              <a:r>
                <a:rPr lang="en-US" sz="6399" b="1" dirty="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DATA PREPROCESSING</a:t>
              </a:r>
            </a:p>
          </p:txBody>
        </p:sp>
        <p:sp>
          <p:nvSpPr>
            <p:cNvPr id="31" name="TextBox 14">
              <a:extLst>
                <a:ext uri="{FF2B5EF4-FFF2-40B4-BE49-F238E27FC236}">
                  <a16:creationId xmlns:a16="http://schemas.microsoft.com/office/drawing/2014/main" id="{9C413B24-7F12-4B55-FFEF-D41F15B3D741}"/>
                </a:ext>
              </a:extLst>
            </p:cNvPr>
            <p:cNvSpPr txBox="1"/>
            <p:nvPr/>
          </p:nvSpPr>
          <p:spPr>
            <a:xfrm>
              <a:off x="1028700" y="192431"/>
              <a:ext cx="281232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Giggling Platypus Co.</a:t>
              </a:r>
            </a:p>
          </p:txBody>
        </p:sp>
        <p:sp>
          <p:nvSpPr>
            <p:cNvPr id="32" name="TextBox 15">
              <a:extLst>
                <a:ext uri="{FF2B5EF4-FFF2-40B4-BE49-F238E27FC236}">
                  <a16:creationId xmlns:a16="http://schemas.microsoft.com/office/drawing/2014/main" id="{D13AAEC1-BE32-FCD0-C3EE-3DD81A400FB1}"/>
                </a:ext>
              </a:extLst>
            </p:cNvPr>
            <p:cNvSpPr txBox="1"/>
            <p:nvPr/>
          </p:nvSpPr>
          <p:spPr>
            <a:xfrm>
              <a:off x="15882727" y="192431"/>
              <a:ext cx="137657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Page 10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8894D0C-1D1E-075D-93A6-B89959FE54C1}"/>
                </a:ext>
              </a:extLst>
            </p:cNvPr>
            <p:cNvGrpSpPr/>
            <p:nvPr/>
          </p:nvGrpSpPr>
          <p:grpSpPr>
            <a:xfrm>
              <a:off x="0" y="23271"/>
              <a:ext cx="4048200" cy="732655"/>
              <a:chOff x="0" y="821440"/>
              <a:chExt cx="4048200" cy="732655"/>
            </a:xfrm>
          </p:grpSpPr>
          <p:grpSp>
            <p:nvGrpSpPr>
              <p:cNvPr id="34" name="Group 6">
                <a:extLst>
                  <a:ext uri="{FF2B5EF4-FFF2-40B4-BE49-F238E27FC236}">
                    <a16:creationId xmlns:a16="http://schemas.microsoft.com/office/drawing/2014/main" id="{B9EA558C-D3E9-EF90-A962-DE5646AA0976}"/>
                  </a:ext>
                </a:extLst>
              </p:cNvPr>
              <p:cNvGrpSpPr/>
              <p:nvPr/>
            </p:nvGrpSpPr>
            <p:grpSpPr>
              <a:xfrm>
                <a:off x="0" y="821440"/>
                <a:ext cx="4048200" cy="732655"/>
                <a:chOff x="0" y="0"/>
                <a:chExt cx="1066193" cy="192963"/>
              </a:xfrm>
            </p:grpSpPr>
            <p:sp>
              <p:nvSpPr>
                <p:cNvPr id="36" name="Freeform 7">
                  <a:extLst>
                    <a:ext uri="{FF2B5EF4-FFF2-40B4-BE49-F238E27FC236}">
                      <a16:creationId xmlns:a16="http://schemas.microsoft.com/office/drawing/2014/main" id="{8F80C037-E83B-71DF-B2A9-CC95D701B2A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66193" cy="192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193" h="192963">
                      <a:moveTo>
                        <a:pt x="0" y="0"/>
                      </a:moveTo>
                      <a:lnTo>
                        <a:pt x="1066193" y="0"/>
                      </a:lnTo>
                      <a:lnTo>
                        <a:pt x="1066193" y="192963"/>
                      </a:lnTo>
                      <a:lnTo>
                        <a:pt x="0" y="192963"/>
                      </a:lnTo>
                      <a:close/>
                    </a:path>
                  </a:pathLst>
                </a:custGeom>
                <a:solidFill>
                  <a:srgbClr val="C2410A"/>
                </a:solidFill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7" name="TextBox 8">
                  <a:extLst>
                    <a:ext uri="{FF2B5EF4-FFF2-40B4-BE49-F238E27FC236}">
                      <a16:creationId xmlns:a16="http://schemas.microsoft.com/office/drawing/2014/main" id="{AA75D237-71D8-2311-EE74-4ABA6C632500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066193" cy="23106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940"/>
                    </a:lnSpc>
                  </a:pPr>
                  <a:endParaRPr/>
                </a:p>
              </p:txBody>
            </p:sp>
          </p:grpSp>
          <p:sp>
            <p:nvSpPr>
              <p:cNvPr id="35" name="TextBox 16">
                <a:extLst>
                  <a:ext uri="{FF2B5EF4-FFF2-40B4-BE49-F238E27FC236}">
                    <a16:creationId xmlns:a16="http://schemas.microsoft.com/office/drawing/2014/main" id="{59EDF2A8-E3CA-B8EF-DCE6-B450618D8694}"/>
                  </a:ext>
                </a:extLst>
              </p:cNvPr>
              <p:cNvSpPr txBox="1"/>
              <p:nvPr/>
            </p:nvSpPr>
            <p:spPr>
              <a:xfrm>
                <a:off x="1028700" y="990600"/>
                <a:ext cx="2812323" cy="35623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940"/>
                  </a:lnSpc>
                  <a:spcBef>
                    <a:spcPct val="0"/>
                  </a:spcBef>
                </a:pPr>
                <a:r>
                  <a:rPr lang="en-US" sz="2100" b="1" dirty="0">
                    <a:solidFill>
                      <a:srgbClr val="FFFFFF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Ulster University</a:t>
                </a:r>
              </a:p>
            </p:txBody>
          </p:sp>
        </p:grpSp>
      </p:grpSp>
      <p:pic>
        <p:nvPicPr>
          <p:cNvPr id="40" name="Picture 3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42"/>
          <a:stretch>
            <a:fillRect/>
          </a:stretch>
        </p:blipFill>
        <p:spPr bwMode="auto">
          <a:xfrm>
            <a:off x="152400" y="1346835"/>
            <a:ext cx="8266030" cy="560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/>
          <p:cNvSpPr txBox="1"/>
          <p:nvPr/>
        </p:nvSpPr>
        <p:spPr>
          <a:xfrm>
            <a:off x="7772400" y="1540787"/>
            <a:ext cx="10287000" cy="8250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Key Finding: Temporal autocorrelation dominates.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lag1_log_arrivals alone accounts for 93% of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total Random Forest feature importance.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Countries that attracted many tourists last year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will attract similar volumes next year — driven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by destination brand equity and infrastructure.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Economic features (GDP, receipts) carry &lt;0.25%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importance after lag features are included.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Implication: For annual country-level forecasting,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simple Ridge model on lag features outperforms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complex tree ensembles.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6C419B9-6C76-675A-F6B6-1885453A1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941357"/>
              </p:ext>
            </p:extLst>
          </p:nvPr>
        </p:nvGraphicFramePr>
        <p:xfrm>
          <a:off x="228601" y="1693190"/>
          <a:ext cx="7367953" cy="8043619"/>
        </p:xfrm>
        <a:graphic>
          <a:graphicData uri="http://schemas.openxmlformats.org/drawingml/2006/table">
            <a:tbl>
              <a:tblPr firstRow="1" firstCol="1" bandRow="1">
                <a:tableStyleId>{2A488322-F2BA-4B5B-9748-0D474271808F}</a:tableStyleId>
              </a:tblPr>
              <a:tblGrid>
                <a:gridCol w="1894163">
                  <a:extLst>
                    <a:ext uri="{9D8B030D-6E8A-4147-A177-3AD203B41FA5}">
                      <a16:colId xmlns:a16="http://schemas.microsoft.com/office/drawing/2014/main" val="1843268745"/>
                    </a:ext>
                  </a:extLst>
                </a:gridCol>
                <a:gridCol w="4281493">
                  <a:extLst>
                    <a:ext uri="{9D8B030D-6E8A-4147-A177-3AD203B41FA5}">
                      <a16:colId xmlns:a16="http://schemas.microsoft.com/office/drawing/2014/main" val="4160608697"/>
                    </a:ext>
                  </a:extLst>
                </a:gridCol>
                <a:gridCol w="1192297">
                  <a:extLst>
                    <a:ext uri="{9D8B030D-6E8A-4147-A177-3AD203B41FA5}">
                      <a16:colId xmlns:a16="http://schemas.microsoft.com/office/drawing/2014/main" val="1198057162"/>
                    </a:ext>
                  </a:extLst>
                </a:gridCol>
              </a:tblGrid>
              <a:tr h="982309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Feature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Importance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Category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113614"/>
                  </a:ext>
                </a:extLst>
              </a:tr>
              <a:tr h="784590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lag1_log_arrivals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93.02%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Lag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595600"/>
                  </a:ext>
                </a:extLst>
              </a:tr>
              <a:tr h="784590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lag2_log_arrivals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 5.80%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Lag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5880673"/>
                  </a:ext>
                </a:extLst>
              </a:tr>
              <a:tr h="784590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arrival_growth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 0.80%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Lag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6047862"/>
                  </a:ext>
                </a:extLst>
              </a:tr>
              <a:tr h="784590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year_norm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 0.10%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Temporal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75330"/>
                  </a:ext>
                </a:extLst>
              </a:tr>
              <a:tr h="784590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</a:rPr>
                        <a:t>decade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 0.08%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Temporal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27383"/>
                  </a:ext>
                </a:extLst>
              </a:tr>
              <a:tr h="784590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is_post_covid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 0.08%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Temporal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7252208"/>
                  </a:ext>
                </a:extLst>
              </a:tr>
              <a:tr h="784590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</a:rPr>
                        <a:t>log_gdp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 0.05%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Economic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310517"/>
                  </a:ext>
                </a:extLst>
              </a:tr>
              <a:tr h="784590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</a:rPr>
                        <a:t>log_tourism_receipts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 0.03%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Economic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515290"/>
                  </a:ext>
                </a:extLst>
              </a:tr>
              <a:tr h="784590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</a:rPr>
                        <a:t>log_tourism_expenditures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 0.02%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Economic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705054"/>
                  </a:ext>
                </a:extLst>
              </a:tr>
            </a:tbl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984E9402-60E2-6DC6-4BBF-A8827F616608}"/>
              </a:ext>
            </a:extLst>
          </p:cNvPr>
          <p:cNvGrpSpPr/>
          <p:nvPr/>
        </p:nvGrpSpPr>
        <p:grpSpPr>
          <a:xfrm>
            <a:off x="0" y="23271"/>
            <a:ext cx="18288000" cy="929229"/>
            <a:chOff x="0" y="23271"/>
            <a:chExt cx="18288000" cy="929229"/>
          </a:xfrm>
        </p:grpSpPr>
        <p:grpSp>
          <p:nvGrpSpPr>
            <p:cNvPr id="28" name="Group 2">
              <a:extLst>
                <a:ext uri="{FF2B5EF4-FFF2-40B4-BE49-F238E27FC236}">
                  <a16:creationId xmlns:a16="http://schemas.microsoft.com/office/drawing/2014/main" id="{35830826-2D4B-4969-4351-EA7BEDD6C601}"/>
                </a:ext>
              </a:extLst>
            </p:cNvPr>
            <p:cNvGrpSpPr/>
            <p:nvPr/>
          </p:nvGrpSpPr>
          <p:grpSpPr>
            <a:xfrm>
              <a:off x="15882727" y="23271"/>
              <a:ext cx="2405273" cy="732655"/>
              <a:chOff x="0" y="0"/>
              <a:chExt cx="633488" cy="192963"/>
            </a:xfrm>
          </p:grpSpPr>
          <p:sp>
            <p:nvSpPr>
              <p:cNvPr id="37" name="Freeform 3">
                <a:extLst>
                  <a:ext uri="{FF2B5EF4-FFF2-40B4-BE49-F238E27FC236}">
                    <a16:creationId xmlns:a16="http://schemas.microsoft.com/office/drawing/2014/main" id="{75DB8314-F22E-F2C2-09B6-CF46237D1E02}"/>
                  </a:ext>
                </a:extLst>
              </p:cNvPr>
              <p:cNvSpPr/>
              <p:nvPr/>
            </p:nvSpPr>
            <p:spPr>
              <a:xfrm>
                <a:off x="0" y="0"/>
                <a:ext cx="633488" cy="192963"/>
              </a:xfrm>
              <a:custGeom>
                <a:avLst/>
                <a:gdLst/>
                <a:ahLst/>
                <a:cxnLst/>
                <a:rect l="l" t="t" r="r" b="b"/>
                <a:pathLst>
                  <a:path w="633488" h="192963">
                    <a:moveTo>
                      <a:pt x="0" y="0"/>
                    </a:moveTo>
                    <a:lnTo>
                      <a:pt x="633488" y="0"/>
                    </a:lnTo>
                    <a:lnTo>
                      <a:pt x="633488" y="192963"/>
                    </a:lnTo>
                    <a:lnTo>
                      <a:pt x="0" y="19296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TextBox 4">
                <a:extLst>
                  <a:ext uri="{FF2B5EF4-FFF2-40B4-BE49-F238E27FC236}">
                    <a16:creationId xmlns:a16="http://schemas.microsoft.com/office/drawing/2014/main" id="{E6C57D49-98DB-C59C-BF7C-D5ED4D31556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33488" cy="2310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29" name="TextBox 12">
              <a:extLst>
                <a:ext uri="{FF2B5EF4-FFF2-40B4-BE49-F238E27FC236}">
                  <a16:creationId xmlns:a16="http://schemas.microsoft.com/office/drawing/2014/main" id="{4ADE9BCC-E3D5-FC01-7EBE-BA6B0CE8082C}"/>
                </a:ext>
              </a:extLst>
            </p:cNvPr>
            <p:cNvSpPr txBox="1"/>
            <p:nvPr/>
          </p:nvSpPr>
          <p:spPr>
            <a:xfrm>
              <a:off x="4267200" y="23271"/>
              <a:ext cx="10586827" cy="929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679"/>
                </a:lnSpc>
              </a:pPr>
              <a:r>
                <a:rPr lang="en-US" sz="6399" b="1" dirty="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COMPARATIVE ANALYSIS</a:t>
              </a:r>
            </a:p>
          </p:txBody>
        </p:sp>
        <p:sp>
          <p:nvSpPr>
            <p:cNvPr id="30" name="TextBox 14">
              <a:extLst>
                <a:ext uri="{FF2B5EF4-FFF2-40B4-BE49-F238E27FC236}">
                  <a16:creationId xmlns:a16="http://schemas.microsoft.com/office/drawing/2014/main" id="{076E5B48-D917-CE62-D840-6522BA5C10A2}"/>
                </a:ext>
              </a:extLst>
            </p:cNvPr>
            <p:cNvSpPr txBox="1"/>
            <p:nvPr/>
          </p:nvSpPr>
          <p:spPr>
            <a:xfrm>
              <a:off x="1028700" y="192431"/>
              <a:ext cx="281232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Giggling Platypus Co.</a:t>
              </a:r>
            </a:p>
          </p:txBody>
        </p:sp>
        <p:sp>
          <p:nvSpPr>
            <p:cNvPr id="31" name="TextBox 15">
              <a:extLst>
                <a:ext uri="{FF2B5EF4-FFF2-40B4-BE49-F238E27FC236}">
                  <a16:creationId xmlns:a16="http://schemas.microsoft.com/office/drawing/2014/main" id="{C181133F-5C43-CCEF-F579-34DDB80ED9B2}"/>
                </a:ext>
              </a:extLst>
            </p:cNvPr>
            <p:cNvSpPr txBox="1"/>
            <p:nvPr/>
          </p:nvSpPr>
          <p:spPr>
            <a:xfrm>
              <a:off x="15882727" y="192431"/>
              <a:ext cx="137657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Page 11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88D10B6-0DEF-C779-4E3C-777423726B09}"/>
                </a:ext>
              </a:extLst>
            </p:cNvPr>
            <p:cNvGrpSpPr/>
            <p:nvPr/>
          </p:nvGrpSpPr>
          <p:grpSpPr>
            <a:xfrm>
              <a:off x="0" y="23271"/>
              <a:ext cx="4048200" cy="732655"/>
              <a:chOff x="0" y="821440"/>
              <a:chExt cx="4048200" cy="732655"/>
            </a:xfrm>
          </p:grpSpPr>
          <p:grpSp>
            <p:nvGrpSpPr>
              <p:cNvPr id="33" name="Group 6">
                <a:extLst>
                  <a:ext uri="{FF2B5EF4-FFF2-40B4-BE49-F238E27FC236}">
                    <a16:creationId xmlns:a16="http://schemas.microsoft.com/office/drawing/2014/main" id="{E6F9F16D-B86E-C8D2-19D2-CCDE3005FD74}"/>
                  </a:ext>
                </a:extLst>
              </p:cNvPr>
              <p:cNvGrpSpPr/>
              <p:nvPr/>
            </p:nvGrpSpPr>
            <p:grpSpPr>
              <a:xfrm>
                <a:off x="0" y="821440"/>
                <a:ext cx="4048200" cy="732655"/>
                <a:chOff x="0" y="0"/>
                <a:chExt cx="1066193" cy="192963"/>
              </a:xfrm>
            </p:grpSpPr>
            <p:sp>
              <p:nvSpPr>
                <p:cNvPr id="35" name="Freeform 7">
                  <a:extLst>
                    <a:ext uri="{FF2B5EF4-FFF2-40B4-BE49-F238E27FC236}">
                      <a16:creationId xmlns:a16="http://schemas.microsoft.com/office/drawing/2014/main" id="{AF3CFC33-458F-49B5-0847-8CD37CD225E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66193" cy="192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193" h="192963">
                      <a:moveTo>
                        <a:pt x="0" y="0"/>
                      </a:moveTo>
                      <a:lnTo>
                        <a:pt x="1066193" y="0"/>
                      </a:lnTo>
                      <a:lnTo>
                        <a:pt x="1066193" y="192963"/>
                      </a:lnTo>
                      <a:lnTo>
                        <a:pt x="0" y="192963"/>
                      </a:lnTo>
                      <a:close/>
                    </a:path>
                  </a:pathLst>
                </a:custGeom>
                <a:solidFill>
                  <a:srgbClr val="C2410A"/>
                </a:solidFill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" name="TextBox 8">
                  <a:extLst>
                    <a:ext uri="{FF2B5EF4-FFF2-40B4-BE49-F238E27FC236}">
                      <a16:creationId xmlns:a16="http://schemas.microsoft.com/office/drawing/2014/main" id="{550AB5F1-2A31-8ADF-A843-FAADD3956DF4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066193" cy="23106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940"/>
                    </a:lnSpc>
                  </a:pPr>
                  <a:endParaRPr/>
                </a:p>
              </p:txBody>
            </p:sp>
          </p:grpSp>
          <p:sp>
            <p:nvSpPr>
              <p:cNvPr id="34" name="TextBox 16">
                <a:extLst>
                  <a:ext uri="{FF2B5EF4-FFF2-40B4-BE49-F238E27FC236}">
                    <a16:creationId xmlns:a16="http://schemas.microsoft.com/office/drawing/2014/main" id="{2A514767-2A5F-D0C5-D1AE-044D2877F840}"/>
                  </a:ext>
                </a:extLst>
              </p:cNvPr>
              <p:cNvSpPr txBox="1"/>
              <p:nvPr/>
            </p:nvSpPr>
            <p:spPr>
              <a:xfrm>
                <a:off x="1028700" y="990600"/>
                <a:ext cx="2812323" cy="35623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940"/>
                  </a:lnSpc>
                  <a:spcBef>
                    <a:spcPct val="0"/>
                  </a:spcBef>
                </a:pPr>
                <a:r>
                  <a:rPr lang="en-US" sz="2100" b="1" dirty="0">
                    <a:solidFill>
                      <a:srgbClr val="FFFFFF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Ulster University</a:t>
                </a: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028700" y="1691477"/>
            <a:ext cx="16230600" cy="740057"/>
            <a:chOff x="0" y="172503"/>
            <a:chExt cx="9559725" cy="986741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172503"/>
              <a:ext cx="986741" cy="986741"/>
              <a:chOff x="0" y="0"/>
              <a:chExt cx="194912" cy="19491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94912" cy="194912"/>
              </a:xfrm>
              <a:custGeom>
                <a:avLst/>
                <a:gdLst/>
                <a:ahLst/>
                <a:cxnLst/>
                <a:rect l="l" t="t" r="r" b="b"/>
                <a:pathLst>
                  <a:path w="194912" h="194912">
                    <a:moveTo>
                      <a:pt x="0" y="0"/>
                    </a:moveTo>
                    <a:lnTo>
                      <a:pt x="194912" y="0"/>
                    </a:lnTo>
                    <a:lnTo>
                      <a:pt x="194912" y="194912"/>
                    </a:lnTo>
                    <a:lnTo>
                      <a:pt x="0" y="194912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94912" cy="233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sz="3200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98643" y="415683"/>
              <a:ext cx="789455" cy="516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3200" b="1">
                  <a:solidFill>
                    <a:srgbClr val="FFFFFF"/>
                  </a:solidFill>
                  <a:ea typeface="Open Sans Medium"/>
                  <a:cs typeface="Open Sans Medium"/>
                  <a:sym typeface="Open Sans Medium"/>
                </a:rPr>
                <a:t>01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430" y="265590"/>
              <a:ext cx="8477295" cy="892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Hybrid deep-feature </a:t>
              </a:r>
              <a:r>
                <a:rPr lang="en-US" sz="3200" dirty="0" err="1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SVM</a:t>
              </a:r>
              <a:r>
                <a:rPr lang="en-US" sz="3200" dirty="0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 (RBF) achieved the highest accuracy due to effective margin-based classification on highly discriminative deep embeddings.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9149A3A-03A6-D817-3A7C-977485287D84}"/>
              </a:ext>
            </a:extLst>
          </p:cNvPr>
          <p:cNvGrpSpPr/>
          <p:nvPr/>
        </p:nvGrpSpPr>
        <p:grpSpPr>
          <a:xfrm>
            <a:off x="0" y="23271"/>
            <a:ext cx="18288000" cy="1005429"/>
            <a:chOff x="0" y="23271"/>
            <a:chExt cx="18288000" cy="1005429"/>
          </a:xfrm>
        </p:grpSpPr>
        <p:grpSp>
          <p:nvGrpSpPr>
            <p:cNvPr id="36" name="Group 2">
              <a:extLst>
                <a:ext uri="{FF2B5EF4-FFF2-40B4-BE49-F238E27FC236}">
                  <a16:creationId xmlns:a16="http://schemas.microsoft.com/office/drawing/2014/main" id="{38793534-03B7-FD76-3419-0DE691B62551}"/>
                </a:ext>
              </a:extLst>
            </p:cNvPr>
            <p:cNvGrpSpPr/>
            <p:nvPr/>
          </p:nvGrpSpPr>
          <p:grpSpPr>
            <a:xfrm>
              <a:off x="15882727" y="23271"/>
              <a:ext cx="2405273" cy="732655"/>
              <a:chOff x="0" y="0"/>
              <a:chExt cx="633488" cy="192963"/>
            </a:xfrm>
          </p:grpSpPr>
          <p:sp>
            <p:nvSpPr>
              <p:cNvPr id="45" name="Freeform 3">
                <a:extLst>
                  <a:ext uri="{FF2B5EF4-FFF2-40B4-BE49-F238E27FC236}">
                    <a16:creationId xmlns:a16="http://schemas.microsoft.com/office/drawing/2014/main" id="{DFED8DB6-5348-8C71-3D47-7BE435165B4A}"/>
                  </a:ext>
                </a:extLst>
              </p:cNvPr>
              <p:cNvSpPr/>
              <p:nvPr/>
            </p:nvSpPr>
            <p:spPr>
              <a:xfrm>
                <a:off x="0" y="0"/>
                <a:ext cx="633488" cy="192963"/>
              </a:xfrm>
              <a:custGeom>
                <a:avLst/>
                <a:gdLst/>
                <a:ahLst/>
                <a:cxnLst/>
                <a:rect l="l" t="t" r="r" b="b"/>
                <a:pathLst>
                  <a:path w="633488" h="192963">
                    <a:moveTo>
                      <a:pt x="0" y="0"/>
                    </a:moveTo>
                    <a:lnTo>
                      <a:pt x="633488" y="0"/>
                    </a:lnTo>
                    <a:lnTo>
                      <a:pt x="633488" y="192963"/>
                    </a:lnTo>
                    <a:lnTo>
                      <a:pt x="0" y="19296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TextBox 4">
                <a:extLst>
                  <a:ext uri="{FF2B5EF4-FFF2-40B4-BE49-F238E27FC236}">
                    <a16:creationId xmlns:a16="http://schemas.microsoft.com/office/drawing/2014/main" id="{1392DF8C-894B-F6E6-52B3-257E29B4735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33488" cy="2310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37" name="TextBox 12">
              <a:extLst>
                <a:ext uri="{FF2B5EF4-FFF2-40B4-BE49-F238E27FC236}">
                  <a16:creationId xmlns:a16="http://schemas.microsoft.com/office/drawing/2014/main" id="{91E8F885-A874-CBF6-83AD-4B551673F537}"/>
                </a:ext>
              </a:extLst>
            </p:cNvPr>
            <p:cNvSpPr txBox="1"/>
            <p:nvPr/>
          </p:nvSpPr>
          <p:spPr>
            <a:xfrm>
              <a:off x="4267199" y="99471"/>
              <a:ext cx="10586827" cy="929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679"/>
                </a:lnSpc>
              </a:pPr>
              <a:r>
                <a:rPr lang="en-US" sz="6399" b="1" dirty="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DISCUSSION</a:t>
              </a:r>
            </a:p>
          </p:txBody>
        </p:sp>
        <p:sp>
          <p:nvSpPr>
            <p:cNvPr id="38" name="TextBox 14">
              <a:extLst>
                <a:ext uri="{FF2B5EF4-FFF2-40B4-BE49-F238E27FC236}">
                  <a16:creationId xmlns:a16="http://schemas.microsoft.com/office/drawing/2014/main" id="{EDD0C3BC-3D8E-9628-2984-D8197C55365E}"/>
                </a:ext>
              </a:extLst>
            </p:cNvPr>
            <p:cNvSpPr txBox="1"/>
            <p:nvPr/>
          </p:nvSpPr>
          <p:spPr>
            <a:xfrm>
              <a:off x="1028700" y="192431"/>
              <a:ext cx="281232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Giggling Platypus Co.</a:t>
              </a:r>
            </a:p>
          </p:txBody>
        </p:sp>
        <p:sp>
          <p:nvSpPr>
            <p:cNvPr id="39" name="TextBox 15">
              <a:extLst>
                <a:ext uri="{FF2B5EF4-FFF2-40B4-BE49-F238E27FC236}">
                  <a16:creationId xmlns:a16="http://schemas.microsoft.com/office/drawing/2014/main" id="{705854BB-94C9-E578-9C52-5A8F821358B2}"/>
                </a:ext>
              </a:extLst>
            </p:cNvPr>
            <p:cNvSpPr txBox="1"/>
            <p:nvPr/>
          </p:nvSpPr>
          <p:spPr>
            <a:xfrm>
              <a:off x="15882727" y="192431"/>
              <a:ext cx="137657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Page 12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7B32F2D-AE7D-C480-FECC-68FFDD8DABAC}"/>
                </a:ext>
              </a:extLst>
            </p:cNvPr>
            <p:cNvGrpSpPr/>
            <p:nvPr/>
          </p:nvGrpSpPr>
          <p:grpSpPr>
            <a:xfrm>
              <a:off x="0" y="23271"/>
              <a:ext cx="4048200" cy="732655"/>
              <a:chOff x="0" y="821440"/>
              <a:chExt cx="4048200" cy="732655"/>
            </a:xfrm>
          </p:grpSpPr>
          <p:grpSp>
            <p:nvGrpSpPr>
              <p:cNvPr id="41" name="Group 6">
                <a:extLst>
                  <a:ext uri="{FF2B5EF4-FFF2-40B4-BE49-F238E27FC236}">
                    <a16:creationId xmlns:a16="http://schemas.microsoft.com/office/drawing/2014/main" id="{EB273D59-81AD-2116-2D75-01D824C05260}"/>
                  </a:ext>
                </a:extLst>
              </p:cNvPr>
              <p:cNvGrpSpPr/>
              <p:nvPr/>
            </p:nvGrpSpPr>
            <p:grpSpPr>
              <a:xfrm>
                <a:off x="0" y="821440"/>
                <a:ext cx="4048200" cy="732655"/>
                <a:chOff x="0" y="0"/>
                <a:chExt cx="1066193" cy="192963"/>
              </a:xfrm>
            </p:grpSpPr>
            <p:sp>
              <p:nvSpPr>
                <p:cNvPr id="43" name="Freeform 7">
                  <a:extLst>
                    <a:ext uri="{FF2B5EF4-FFF2-40B4-BE49-F238E27FC236}">
                      <a16:creationId xmlns:a16="http://schemas.microsoft.com/office/drawing/2014/main" id="{79D797F0-2D16-9DF9-767D-DD50214EC1D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66193" cy="192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193" h="192963">
                      <a:moveTo>
                        <a:pt x="0" y="0"/>
                      </a:moveTo>
                      <a:lnTo>
                        <a:pt x="1066193" y="0"/>
                      </a:lnTo>
                      <a:lnTo>
                        <a:pt x="1066193" y="192963"/>
                      </a:lnTo>
                      <a:lnTo>
                        <a:pt x="0" y="192963"/>
                      </a:lnTo>
                      <a:close/>
                    </a:path>
                  </a:pathLst>
                </a:custGeom>
                <a:solidFill>
                  <a:srgbClr val="C2410A"/>
                </a:solidFill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4" name="TextBox 8">
                  <a:extLst>
                    <a:ext uri="{FF2B5EF4-FFF2-40B4-BE49-F238E27FC236}">
                      <a16:creationId xmlns:a16="http://schemas.microsoft.com/office/drawing/2014/main" id="{EB8F91E5-32FA-FF8B-CE04-28D3C9E09366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066193" cy="23106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940"/>
                    </a:lnSpc>
                  </a:pPr>
                  <a:endParaRPr/>
                </a:p>
              </p:txBody>
            </p:sp>
          </p:grpSp>
          <p:sp>
            <p:nvSpPr>
              <p:cNvPr id="42" name="TextBox 16">
                <a:extLst>
                  <a:ext uri="{FF2B5EF4-FFF2-40B4-BE49-F238E27FC236}">
                    <a16:creationId xmlns:a16="http://schemas.microsoft.com/office/drawing/2014/main" id="{8B857FE8-5B14-00F4-A88C-FCA75C1C9CFE}"/>
                  </a:ext>
                </a:extLst>
              </p:cNvPr>
              <p:cNvSpPr txBox="1"/>
              <p:nvPr/>
            </p:nvSpPr>
            <p:spPr>
              <a:xfrm>
                <a:off x="1028700" y="990600"/>
                <a:ext cx="2812323" cy="35623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940"/>
                  </a:lnSpc>
                  <a:spcBef>
                    <a:spcPct val="0"/>
                  </a:spcBef>
                </a:pPr>
                <a:r>
                  <a:rPr lang="en-US" sz="2100" b="1" dirty="0">
                    <a:solidFill>
                      <a:srgbClr val="FFFFFF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Ulster University</a:t>
                </a:r>
              </a:p>
            </p:txBody>
          </p:sp>
        </p:grpSp>
      </p:grpSp>
      <p:grpSp>
        <p:nvGrpSpPr>
          <p:cNvPr id="48" name="Group 14">
            <a:extLst>
              <a:ext uri="{FF2B5EF4-FFF2-40B4-BE49-F238E27FC236}">
                <a16:creationId xmlns:a16="http://schemas.microsoft.com/office/drawing/2014/main" id="{2B0BF586-1727-153C-CA55-F73A8801C009}"/>
              </a:ext>
            </a:extLst>
          </p:cNvPr>
          <p:cNvGrpSpPr/>
          <p:nvPr/>
        </p:nvGrpSpPr>
        <p:grpSpPr>
          <a:xfrm>
            <a:off x="1023685" y="2683285"/>
            <a:ext cx="16235615" cy="740057"/>
            <a:chOff x="0" y="172503"/>
            <a:chExt cx="9562679" cy="986741"/>
          </a:xfrm>
        </p:grpSpPr>
        <p:grpSp>
          <p:nvGrpSpPr>
            <p:cNvPr id="49" name="Group 15">
              <a:extLst>
                <a:ext uri="{FF2B5EF4-FFF2-40B4-BE49-F238E27FC236}">
                  <a16:creationId xmlns:a16="http://schemas.microsoft.com/office/drawing/2014/main" id="{1A43F06A-3C8E-F3F9-5526-BD9C411001BE}"/>
                </a:ext>
              </a:extLst>
            </p:cNvPr>
            <p:cNvGrpSpPr/>
            <p:nvPr/>
          </p:nvGrpSpPr>
          <p:grpSpPr>
            <a:xfrm>
              <a:off x="0" y="172503"/>
              <a:ext cx="986741" cy="986741"/>
              <a:chOff x="0" y="0"/>
              <a:chExt cx="194912" cy="194912"/>
            </a:xfrm>
          </p:grpSpPr>
          <p:sp>
            <p:nvSpPr>
              <p:cNvPr id="52" name="Freeform 16">
                <a:extLst>
                  <a:ext uri="{FF2B5EF4-FFF2-40B4-BE49-F238E27FC236}">
                    <a16:creationId xmlns:a16="http://schemas.microsoft.com/office/drawing/2014/main" id="{ED115297-4266-10D5-3133-E7AFF0F40E43}"/>
                  </a:ext>
                </a:extLst>
              </p:cNvPr>
              <p:cNvSpPr/>
              <p:nvPr/>
            </p:nvSpPr>
            <p:spPr>
              <a:xfrm>
                <a:off x="0" y="0"/>
                <a:ext cx="194912" cy="194912"/>
              </a:xfrm>
              <a:custGeom>
                <a:avLst/>
                <a:gdLst/>
                <a:ahLst/>
                <a:cxnLst/>
                <a:rect l="l" t="t" r="r" b="b"/>
                <a:pathLst>
                  <a:path w="194912" h="194912">
                    <a:moveTo>
                      <a:pt x="0" y="0"/>
                    </a:moveTo>
                    <a:lnTo>
                      <a:pt x="194912" y="0"/>
                    </a:lnTo>
                    <a:lnTo>
                      <a:pt x="194912" y="194912"/>
                    </a:lnTo>
                    <a:lnTo>
                      <a:pt x="0" y="194912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" name="TextBox 17">
                <a:extLst>
                  <a:ext uri="{FF2B5EF4-FFF2-40B4-BE49-F238E27FC236}">
                    <a16:creationId xmlns:a16="http://schemas.microsoft.com/office/drawing/2014/main" id="{8CF0195A-D946-648A-6011-0CCE033D633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94912" cy="233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sz="3200"/>
              </a:p>
            </p:txBody>
          </p:sp>
        </p:grpSp>
        <p:sp>
          <p:nvSpPr>
            <p:cNvPr id="50" name="TextBox 18">
              <a:extLst>
                <a:ext uri="{FF2B5EF4-FFF2-40B4-BE49-F238E27FC236}">
                  <a16:creationId xmlns:a16="http://schemas.microsoft.com/office/drawing/2014/main" id="{A4708B60-5DCB-B115-52F6-A25619CC939B}"/>
                </a:ext>
              </a:extLst>
            </p:cNvPr>
            <p:cNvSpPr txBox="1"/>
            <p:nvPr/>
          </p:nvSpPr>
          <p:spPr>
            <a:xfrm>
              <a:off x="98643" y="415683"/>
              <a:ext cx="789455" cy="516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3200" b="1" dirty="0">
                  <a:solidFill>
                    <a:srgbClr val="FFFFFF"/>
                  </a:solidFill>
                  <a:ea typeface="Open Sans Medium"/>
                  <a:cs typeface="Open Sans Medium"/>
                  <a:sym typeface="Open Sans Medium"/>
                </a:rPr>
                <a:t>02</a:t>
              </a:r>
            </a:p>
          </p:txBody>
        </p:sp>
        <p:sp>
          <p:nvSpPr>
            <p:cNvPr id="51" name="TextBox 20">
              <a:extLst>
                <a:ext uri="{FF2B5EF4-FFF2-40B4-BE49-F238E27FC236}">
                  <a16:creationId xmlns:a16="http://schemas.microsoft.com/office/drawing/2014/main" id="{37265EAD-CA7E-0F3C-96E7-596A19A91A28}"/>
                </a:ext>
              </a:extLst>
            </p:cNvPr>
            <p:cNvSpPr txBox="1"/>
            <p:nvPr/>
          </p:nvSpPr>
          <p:spPr>
            <a:xfrm>
              <a:off x="1085384" y="227830"/>
              <a:ext cx="8477295" cy="892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CNN models performed consistently well by learning spatial and structural MRI biomarkers such as cortical thinning and ventricular enlargement.</a:t>
              </a:r>
            </a:p>
          </p:txBody>
        </p:sp>
      </p:grpSp>
      <p:grpSp>
        <p:nvGrpSpPr>
          <p:cNvPr id="55" name="Group 14">
            <a:extLst>
              <a:ext uri="{FF2B5EF4-FFF2-40B4-BE49-F238E27FC236}">
                <a16:creationId xmlns:a16="http://schemas.microsoft.com/office/drawing/2014/main" id="{095F437C-AF5E-7C01-003E-48D0A1210BB2}"/>
              </a:ext>
            </a:extLst>
          </p:cNvPr>
          <p:cNvGrpSpPr/>
          <p:nvPr/>
        </p:nvGrpSpPr>
        <p:grpSpPr>
          <a:xfrm>
            <a:off x="1058854" y="3728419"/>
            <a:ext cx="16235615" cy="740057"/>
            <a:chOff x="0" y="172503"/>
            <a:chExt cx="9562679" cy="986741"/>
          </a:xfrm>
        </p:grpSpPr>
        <p:grpSp>
          <p:nvGrpSpPr>
            <p:cNvPr id="56" name="Group 15">
              <a:extLst>
                <a:ext uri="{FF2B5EF4-FFF2-40B4-BE49-F238E27FC236}">
                  <a16:creationId xmlns:a16="http://schemas.microsoft.com/office/drawing/2014/main" id="{DF427BB9-6057-DFA4-A934-07CDD266C0AD}"/>
                </a:ext>
              </a:extLst>
            </p:cNvPr>
            <p:cNvGrpSpPr/>
            <p:nvPr/>
          </p:nvGrpSpPr>
          <p:grpSpPr>
            <a:xfrm>
              <a:off x="0" y="172503"/>
              <a:ext cx="986741" cy="986741"/>
              <a:chOff x="0" y="0"/>
              <a:chExt cx="194912" cy="194912"/>
            </a:xfrm>
          </p:grpSpPr>
          <p:sp>
            <p:nvSpPr>
              <p:cNvPr id="59" name="Freeform 16">
                <a:extLst>
                  <a:ext uri="{FF2B5EF4-FFF2-40B4-BE49-F238E27FC236}">
                    <a16:creationId xmlns:a16="http://schemas.microsoft.com/office/drawing/2014/main" id="{448BC21E-9495-3552-96C7-FEA9229F3818}"/>
                  </a:ext>
                </a:extLst>
              </p:cNvPr>
              <p:cNvSpPr/>
              <p:nvPr/>
            </p:nvSpPr>
            <p:spPr>
              <a:xfrm>
                <a:off x="0" y="0"/>
                <a:ext cx="194912" cy="194912"/>
              </a:xfrm>
              <a:custGeom>
                <a:avLst/>
                <a:gdLst/>
                <a:ahLst/>
                <a:cxnLst/>
                <a:rect l="l" t="t" r="r" b="b"/>
                <a:pathLst>
                  <a:path w="194912" h="194912">
                    <a:moveTo>
                      <a:pt x="0" y="0"/>
                    </a:moveTo>
                    <a:lnTo>
                      <a:pt x="194912" y="0"/>
                    </a:lnTo>
                    <a:lnTo>
                      <a:pt x="194912" y="194912"/>
                    </a:lnTo>
                    <a:lnTo>
                      <a:pt x="0" y="194912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0" name="TextBox 17">
                <a:extLst>
                  <a:ext uri="{FF2B5EF4-FFF2-40B4-BE49-F238E27FC236}">
                    <a16:creationId xmlns:a16="http://schemas.microsoft.com/office/drawing/2014/main" id="{D2D30E4B-ECFA-F40A-C981-3CE8118690A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94912" cy="233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sz="3200"/>
              </a:p>
            </p:txBody>
          </p:sp>
        </p:grpSp>
        <p:sp>
          <p:nvSpPr>
            <p:cNvPr id="57" name="TextBox 18">
              <a:extLst>
                <a:ext uri="{FF2B5EF4-FFF2-40B4-BE49-F238E27FC236}">
                  <a16:creationId xmlns:a16="http://schemas.microsoft.com/office/drawing/2014/main" id="{AEF97AB5-CC73-A89D-5611-D4CF9B0EA0C3}"/>
                </a:ext>
              </a:extLst>
            </p:cNvPr>
            <p:cNvSpPr txBox="1"/>
            <p:nvPr/>
          </p:nvSpPr>
          <p:spPr>
            <a:xfrm>
              <a:off x="98643" y="415683"/>
              <a:ext cx="789455" cy="516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3200" b="1" dirty="0">
                  <a:solidFill>
                    <a:srgbClr val="FFFFFF"/>
                  </a:solidFill>
                  <a:ea typeface="Open Sans Medium"/>
                  <a:cs typeface="Open Sans Medium"/>
                  <a:sym typeface="Open Sans Medium"/>
                </a:rPr>
                <a:t>03</a:t>
              </a:r>
            </a:p>
          </p:txBody>
        </p:sp>
        <p:sp>
          <p:nvSpPr>
            <p:cNvPr id="58" name="TextBox 20">
              <a:extLst>
                <a:ext uri="{FF2B5EF4-FFF2-40B4-BE49-F238E27FC236}">
                  <a16:creationId xmlns:a16="http://schemas.microsoft.com/office/drawing/2014/main" id="{8D64DAB2-31DD-F99D-760F-4BB244C2FF86}"/>
                </a:ext>
              </a:extLst>
            </p:cNvPr>
            <p:cNvSpPr txBox="1"/>
            <p:nvPr/>
          </p:nvSpPr>
          <p:spPr>
            <a:xfrm>
              <a:off x="1085384" y="266694"/>
              <a:ext cx="8477295" cy="892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Ensemble methods outperformed single classical models by reducing variance and improving generalization in multiclass settings.</a:t>
              </a:r>
            </a:p>
          </p:txBody>
        </p:sp>
      </p:grpSp>
      <p:grpSp>
        <p:nvGrpSpPr>
          <p:cNvPr id="62" name="Group 14">
            <a:extLst>
              <a:ext uri="{FF2B5EF4-FFF2-40B4-BE49-F238E27FC236}">
                <a16:creationId xmlns:a16="http://schemas.microsoft.com/office/drawing/2014/main" id="{C14F0F7E-3DBE-0100-41F5-4850CD4C330B}"/>
              </a:ext>
            </a:extLst>
          </p:cNvPr>
          <p:cNvGrpSpPr/>
          <p:nvPr/>
        </p:nvGrpSpPr>
        <p:grpSpPr>
          <a:xfrm>
            <a:off x="1058854" y="4720227"/>
            <a:ext cx="16235615" cy="740057"/>
            <a:chOff x="0" y="172503"/>
            <a:chExt cx="9562679" cy="986741"/>
          </a:xfrm>
        </p:grpSpPr>
        <p:grpSp>
          <p:nvGrpSpPr>
            <p:cNvPr id="63" name="Group 15">
              <a:extLst>
                <a:ext uri="{FF2B5EF4-FFF2-40B4-BE49-F238E27FC236}">
                  <a16:creationId xmlns:a16="http://schemas.microsoft.com/office/drawing/2014/main" id="{FB3ACA04-9978-2488-67BD-BD74DED03343}"/>
                </a:ext>
              </a:extLst>
            </p:cNvPr>
            <p:cNvGrpSpPr/>
            <p:nvPr/>
          </p:nvGrpSpPr>
          <p:grpSpPr>
            <a:xfrm>
              <a:off x="0" y="172503"/>
              <a:ext cx="986741" cy="986741"/>
              <a:chOff x="0" y="0"/>
              <a:chExt cx="194912" cy="194912"/>
            </a:xfrm>
          </p:grpSpPr>
          <p:sp>
            <p:nvSpPr>
              <p:cNvPr id="66" name="Freeform 16">
                <a:extLst>
                  <a:ext uri="{FF2B5EF4-FFF2-40B4-BE49-F238E27FC236}">
                    <a16:creationId xmlns:a16="http://schemas.microsoft.com/office/drawing/2014/main" id="{A62EDA64-3298-E766-47F0-729A9F54F786}"/>
                  </a:ext>
                </a:extLst>
              </p:cNvPr>
              <p:cNvSpPr/>
              <p:nvPr/>
            </p:nvSpPr>
            <p:spPr>
              <a:xfrm>
                <a:off x="0" y="0"/>
                <a:ext cx="194912" cy="194912"/>
              </a:xfrm>
              <a:custGeom>
                <a:avLst/>
                <a:gdLst/>
                <a:ahLst/>
                <a:cxnLst/>
                <a:rect l="l" t="t" r="r" b="b"/>
                <a:pathLst>
                  <a:path w="194912" h="194912">
                    <a:moveTo>
                      <a:pt x="0" y="0"/>
                    </a:moveTo>
                    <a:lnTo>
                      <a:pt x="194912" y="0"/>
                    </a:lnTo>
                    <a:lnTo>
                      <a:pt x="194912" y="194912"/>
                    </a:lnTo>
                    <a:lnTo>
                      <a:pt x="0" y="194912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7" name="TextBox 17">
                <a:extLst>
                  <a:ext uri="{FF2B5EF4-FFF2-40B4-BE49-F238E27FC236}">
                    <a16:creationId xmlns:a16="http://schemas.microsoft.com/office/drawing/2014/main" id="{854F0E7F-8F9A-820E-BE84-CE68AA33DC1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94912" cy="233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sz="3200"/>
              </a:p>
            </p:txBody>
          </p:sp>
        </p:grpSp>
        <p:sp>
          <p:nvSpPr>
            <p:cNvPr id="64" name="TextBox 18">
              <a:extLst>
                <a:ext uri="{FF2B5EF4-FFF2-40B4-BE49-F238E27FC236}">
                  <a16:creationId xmlns:a16="http://schemas.microsoft.com/office/drawing/2014/main" id="{79BE9D81-4CC7-FD20-E456-46EC6CAFFE39}"/>
                </a:ext>
              </a:extLst>
            </p:cNvPr>
            <p:cNvSpPr txBox="1"/>
            <p:nvPr/>
          </p:nvSpPr>
          <p:spPr>
            <a:xfrm>
              <a:off x="98643" y="415683"/>
              <a:ext cx="789455" cy="516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3200" b="1" dirty="0">
                  <a:solidFill>
                    <a:srgbClr val="FFFFFF"/>
                  </a:solidFill>
                  <a:ea typeface="Open Sans Medium"/>
                  <a:cs typeface="Open Sans Medium"/>
                  <a:sym typeface="Open Sans Medium"/>
                </a:rPr>
                <a:t>04</a:t>
              </a:r>
            </a:p>
          </p:txBody>
        </p:sp>
        <p:sp>
          <p:nvSpPr>
            <p:cNvPr id="65" name="TextBox 20">
              <a:extLst>
                <a:ext uri="{FF2B5EF4-FFF2-40B4-BE49-F238E27FC236}">
                  <a16:creationId xmlns:a16="http://schemas.microsoft.com/office/drawing/2014/main" id="{47094312-C435-78B7-920D-948817EE250E}"/>
                </a:ext>
              </a:extLst>
            </p:cNvPr>
            <p:cNvSpPr txBox="1"/>
            <p:nvPr/>
          </p:nvSpPr>
          <p:spPr>
            <a:xfrm>
              <a:off x="1085384" y="245400"/>
              <a:ext cx="8477295" cy="892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3200" dirty="0" err="1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MLP</a:t>
              </a:r>
              <a:r>
                <a:rPr lang="en-US" sz="3200" dirty="0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 achieved competitive results by modeling nonlinear decision boundaries, despite lacking explicit spatial feature learning.</a:t>
              </a:r>
            </a:p>
          </p:txBody>
        </p:sp>
      </p:grpSp>
      <p:grpSp>
        <p:nvGrpSpPr>
          <p:cNvPr id="68" name="Group 14">
            <a:extLst>
              <a:ext uri="{FF2B5EF4-FFF2-40B4-BE49-F238E27FC236}">
                <a16:creationId xmlns:a16="http://schemas.microsoft.com/office/drawing/2014/main" id="{4E485648-276E-5D16-E448-4DFFB2B047E4}"/>
              </a:ext>
            </a:extLst>
          </p:cNvPr>
          <p:cNvGrpSpPr/>
          <p:nvPr/>
        </p:nvGrpSpPr>
        <p:grpSpPr>
          <a:xfrm>
            <a:off x="1023685" y="5712035"/>
            <a:ext cx="16235615" cy="773581"/>
            <a:chOff x="0" y="172503"/>
            <a:chExt cx="9562679" cy="1031440"/>
          </a:xfrm>
        </p:grpSpPr>
        <p:grpSp>
          <p:nvGrpSpPr>
            <p:cNvPr id="69" name="Group 15">
              <a:extLst>
                <a:ext uri="{FF2B5EF4-FFF2-40B4-BE49-F238E27FC236}">
                  <a16:creationId xmlns:a16="http://schemas.microsoft.com/office/drawing/2014/main" id="{BA2FE666-134B-7419-1B6C-11A79A40ADD2}"/>
                </a:ext>
              </a:extLst>
            </p:cNvPr>
            <p:cNvGrpSpPr/>
            <p:nvPr/>
          </p:nvGrpSpPr>
          <p:grpSpPr>
            <a:xfrm>
              <a:off x="0" y="172503"/>
              <a:ext cx="986741" cy="986741"/>
              <a:chOff x="0" y="0"/>
              <a:chExt cx="194912" cy="194912"/>
            </a:xfrm>
          </p:grpSpPr>
          <p:sp>
            <p:nvSpPr>
              <p:cNvPr id="72" name="Freeform 16">
                <a:extLst>
                  <a:ext uri="{FF2B5EF4-FFF2-40B4-BE49-F238E27FC236}">
                    <a16:creationId xmlns:a16="http://schemas.microsoft.com/office/drawing/2014/main" id="{625E75AD-3DDA-199F-8CA6-AF5668973856}"/>
                  </a:ext>
                </a:extLst>
              </p:cNvPr>
              <p:cNvSpPr/>
              <p:nvPr/>
            </p:nvSpPr>
            <p:spPr>
              <a:xfrm>
                <a:off x="0" y="0"/>
                <a:ext cx="194912" cy="194912"/>
              </a:xfrm>
              <a:custGeom>
                <a:avLst/>
                <a:gdLst/>
                <a:ahLst/>
                <a:cxnLst/>
                <a:rect l="l" t="t" r="r" b="b"/>
                <a:pathLst>
                  <a:path w="194912" h="194912">
                    <a:moveTo>
                      <a:pt x="0" y="0"/>
                    </a:moveTo>
                    <a:lnTo>
                      <a:pt x="194912" y="0"/>
                    </a:lnTo>
                    <a:lnTo>
                      <a:pt x="194912" y="194912"/>
                    </a:lnTo>
                    <a:lnTo>
                      <a:pt x="0" y="194912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3" name="TextBox 17">
                <a:extLst>
                  <a:ext uri="{FF2B5EF4-FFF2-40B4-BE49-F238E27FC236}">
                    <a16:creationId xmlns:a16="http://schemas.microsoft.com/office/drawing/2014/main" id="{84FC0E7E-BFFB-3CB4-9DD3-F0C039EB159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94912" cy="233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sz="3200"/>
              </a:p>
            </p:txBody>
          </p:sp>
        </p:grpSp>
        <p:sp>
          <p:nvSpPr>
            <p:cNvPr id="70" name="TextBox 18">
              <a:extLst>
                <a:ext uri="{FF2B5EF4-FFF2-40B4-BE49-F238E27FC236}">
                  <a16:creationId xmlns:a16="http://schemas.microsoft.com/office/drawing/2014/main" id="{A614F403-632C-7A02-9614-607795FBDDAF}"/>
                </a:ext>
              </a:extLst>
            </p:cNvPr>
            <p:cNvSpPr txBox="1"/>
            <p:nvPr/>
          </p:nvSpPr>
          <p:spPr>
            <a:xfrm>
              <a:off x="98643" y="415683"/>
              <a:ext cx="789455" cy="516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3200" b="1" dirty="0">
                  <a:solidFill>
                    <a:srgbClr val="FFFFFF"/>
                  </a:solidFill>
                  <a:ea typeface="Open Sans Medium"/>
                  <a:cs typeface="Open Sans Medium"/>
                  <a:sym typeface="Open Sans Medium"/>
                </a:rPr>
                <a:t>05</a:t>
              </a:r>
            </a:p>
          </p:txBody>
        </p:sp>
        <p:sp>
          <p:nvSpPr>
            <p:cNvPr id="71" name="TextBox 20">
              <a:extLst>
                <a:ext uri="{FF2B5EF4-FFF2-40B4-BE49-F238E27FC236}">
                  <a16:creationId xmlns:a16="http://schemas.microsoft.com/office/drawing/2014/main" id="{64AC6638-F491-06A1-70D2-74E531393C14}"/>
                </a:ext>
              </a:extLst>
            </p:cNvPr>
            <p:cNvSpPr txBox="1"/>
            <p:nvPr/>
          </p:nvSpPr>
          <p:spPr>
            <a:xfrm>
              <a:off x="1085384" y="311393"/>
              <a:ext cx="8477295" cy="892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Classical ML models underperformed due to reliance on flattened pixel representations and inability to capture spatial context.</a:t>
              </a:r>
            </a:p>
          </p:txBody>
        </p:sp>
      </p:grpSp>
      <p:grpSp>
        <p:nvGrpSpPr>
          <p:cNvPr id="74" name="Group 14">
            <a:extLst>
              <a:ext uri="{FF2B5EF4-FFF2-40B4-BE49-F238E27FC236}">
                <a16:creationId xmlns:a16="http://schemas.microsoft.com/office/drawing/2014/main" id="{74C333F4-AE05-9D66-534B-D42E1970F290}"/>
              </a:ext>
            </a:extLst>
          </p:cNvPr>
          <p:cNvGrpSpPr/>
          <p:nvPr/>
        </p:nvGrpSpPr>
        <p:grpSpPr>
          <a:xfrm>
            <a:off x="1023685" y="6706203"/>
            <a:ext cx="16235615" cy="740057"/>
            <a:chOff x="0" y="172503"/>
            <a:chExt cx="9562679" cy="986741"/>
          </a:xfrm>
        </p:grpSpPr>
        <p:grpSp>
          <p:nvGrpSpPr>
            <p:cNvPr id="75" name="Group 15">
              <a:extLst>
                <a:ext uri="{FF2B5EF4-FFF2-40B4-BE49-F238E27FC236}">
                  <a16:creationId xmlns:a16="http://schemas.microsoft.com/office/drawing/2014/main" id="{7EC064CA-F361-24F0-6E2B-9E86CA34145D}"/>
                </a:ext>
              </a:extLst>
            </p:cNvPr>
            <p:cNvGrpSpPr/>
            <p:nvPr/>
          </p:nvGrpSpPr>
          <p:grpSpPr>
            <a:xfrm>
              <a:off x="0" y="172503"/>
              <a:ext cx="986741" cy="986741"/>
              <a:chOff x="0" y="0"/>
              <a:chExt cx="194912" cy="194912"/>
            </a:xfrm>
          </p:grpSpPr>
          <p:sp>
            <p:nvSpPr>
              <p:cNvPr id="78" name="Freeform 16">
                <a:extLst>
                  <a:ext uri="{FF2B5EF4-FFF2-40B4-BE49-F238E27FC236}">
                    <a16:creationId xmlns:a16="http://schemas.microsoft.com/office/drawing/2014/main" id="{D882137E-4710-99E5-CC7B-92A3864B1EE5}"/>
                  </a:ext>
                </a:extLst>
              </p:cNvPr>
              <p:cNvSpPr/>
              <p:nvPr/>
            </p:nvSpPr>
            <p:spPr>
              <a:xfrm>
                <a:off x="0" y="0"/>
                <a:ext cx="194912" cy="194912"/>
              </a:xfrm>
              <a:custGeom>
                <a:avLst/>
                <a:gdLst/>
                <a:ahLst/>
                <a:cxnLst/>
                <a:rect l="l" t="t" r="r" b="b"/>
                <a:pathLst>
                  <a:path w="194912" h="194912">
                    <a:moveTo>
                      <a:pt x="0" y="0"/>
                    </a:moveTo>
                    <a:lnTo>
                      <a:pt x="194912" y="0"/>
                    </a:lnTo>
                    <a:lnTo>
                      <a:pt x="194912" y="194912"/>
                    </a:lnTo>
                    <a:lnTo>
                      <a:pt x="0" y="194912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9" name="TextBox 17">
                <a:extLst>
                  <a:ext uri="{FF2B5EF4-FFF2-40B4-BE49-F238E27FC236}">
                    <a16:creationId xmlns:a16="http://schemas.microsoft.com/office/drawing/2014/main" id="{4B6CD9E5-77C7-BE6F-0E37-D74423EF477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94912" cy="233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sz="3200"/>
              </a:p>
            </p:txBody>
          </p:sp>
        </p:grpSp>
        <p:sp>
          <p:nvSpPr>
            <p:cNvPr id="76" name="TextBox 18">
              <a:extLst>
                <a:ext uri="{FF2B5EF4-FFF2-40B4-BE49-F238E27FC236}">
                  <a16:creationId xmlns:a16="http://schemas.microsoft.com/office/drawing/2014/main" id="{732EEABE-C041-931E-DB78-406FA8CF2916}"/>
                </a:ext>
              </a:extLst>
            </p:cNvPr>
            <p:cNvSpPr txBox="1"/>
            <p:nvPr/>
          </p:nvSpPr>
          <p:spPr>
            <a:xfrm>
              <a:off x="98643" y="415683"/>
              <a:ext cx="789455" cy="516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3200" b="1" dirty="0">
                  <a:solidFill>
                    <a:srgbClr val="FFFFFF"/>
                  </a:solidFill>
                  <a:ea typeface="Open Sans Medium"/>
                  <a:cs typeface="Open Sans Medium"/>
                  <a:sym typeface="Open Sans Medium"/>
                </a:rPr>
                <a:t>06</a:t>
              </a:r>
            </a:p>
          </p:txBody>
        </p:sp>
        <p:sp>
          <p:nvSpPr>
            <p:cNvPr id="77" name="TextBox 20">
              <a:extLst>
                <a:ext uri="{FF2B5EF4-FFF2-40B4-BE49-F238E27FC236}">
                  <a16:creationId xmlns:a16="http://schemas.microsoft.com/office/drawing/2014/main" id="{769D9370-67ED-5844-E673-439DD8FAD2FB}"/>
                </a:ext>
              </a:extLst>
            </p:cNvPr>
            <p:cNvSpPr txBox="1"/>
            <p:nvPr/>
          </p:nvSpPr>
          <p:spPr>
            <a:xfrm>
              <a:off x="1085384" y="266694"/>
              <a:ext cx="8477295" cy="892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Vision Transformer (</a:t>
              </a:r>
              <a:r>
                <a:rPr lang="en-US" sz="3200" dirty="0" err="1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ViT</a:t>
              </a:r>
              <a:r>
                <a:rPr lang="en-US" sz="3200" dirty="0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) demonstrated strong robustness on clinical </a:t>
              </a:r>
              <a:r>
                <a:rPr lang="en-US" sz="3200" dirty="0" err="1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ADNI</a:t>
              </a:r>
              <a:r>
                <a:rPr lang="en-US" sz="3200" dirty="0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 data by capturing global anatomical dependencies through self-attention.</a:t>
              </a:r>
            </a:p>
          </p:txBody>
        </p:sp>
      </p:grpSp>
      <p:grpSp>
        <p:nvGrpSpPr>
          <p:cNvPr id="80" name="Group 14">
            <a:extLst>
              <a:ext uri="{FF2B5EF4-FFF2-40B4-BE49-F238E27FC236}">
                <a16:creationId xmlns:a16="http://schemas.microsoft.com/office/drawing/2014/main" id="{E08CD047-FDC2-E465-5CEC-6FA95E84B809}"/>
              </a:ext>
            </a:extLst>
          </p:cNvPr>
          <p:cNvGrpSpPr/>
          <p:nvPr/>
        </p:nvGrpSpPr>
        <p:grpSpPr>
          <a:xfrm>
            <a:off x="1023685" y="7799819"/>
            <a:ext cx="16235615" cy="760773"/>
            <a:chOff x="0" y="172503"/>
            <a:chExt cx="9562679" cy="1014362"/>
          </a:xfrm>
        </p:grpSpPr>
        <p:grpSp>
          <p:nvGrpSpPr>
            <p:cNvPr id="81" name="Group 15">
              <a:extLst>
                <a:ext uri="{FF2B5EF4-FFF2-40B4-BE49-F238E27FC236}">
                  <a16:creationId xmlns:a16="http://schemas.microsoft.com/office/drawing/2014/main" id="{93B14037-55FB-34C3-7C50-071746243EF0}"/>
                </a:ext>
              </a:extLst>
            </p:cNvPr>
            <p:cNvGrpSpPr/>
            <p:nvPr/>
          </p:nvGrpSpPr>
          <p:grpSpPr>
            <a:xfrm>
              <a:off x="0" y="172503"/>
              <a:ext cx="986741" cy="986741"/>
              <a:chOff x="0" y="0"/>
              <a:chExt cx="194912" cy="194912"/>
            </a:xfrm>
          </p:grpSpPr>
          <p:sp>
            <p:nvSpPr>
              <p:cNvPr id="84" name="Freeform 16">
                <a:extLst>
                  <a:ext uri="{FF2B5EF4-FFF2-40B4-BE49-F238E27FC236}">
                    <a16:creationId xmlns:a16="http://schemas.microsoft.com/office/drawing/2014/main" id="{74888BA2-9C09-C924-7552-4BCDE43647F9}"/>
                  </a:ext>
                </a:extLst>
              </p:cNvPr>
              <p:cNvSpPr/>
              <p:nvPr/>
            </p:nvSpPr>
            <p:spPr>
              <a:xfrm>
                <a:off x="0" y="0"/>
                <a:ext cx="194912" cy="194912"/>
              </a:xfrm>
              <a:custGeom>
                <a:avLst/>
                <a:gdLst/>
                <a:ahLst/>
                <a:cxnLst/>
                <a:rect l="l" t="t" r="r" b="b"/>
                <a:pathLst>
                  <a:path w="194912" h="194912">
                    <a:moveTo>
                      <a:pt x="0" y="0"/>
                    </a:moveTo>
                    <a:lnTo>
                      <a:pt x="194912" y="0"/>
                    </a:lnTo>
                    <a:lnTo>
                      <a:pt x="194912" y="194912"/>
                    </a:lnTo>
                    <a:lnTo>
                      <a:pt x="0" y="194912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5" name="TextBox 17">
                <a:extLst>
                  <a:ext uri="{FF2B5EF4-FFF2-40B4-BE49-F238E27FC236}">
                    <a16:creationId xmlns:a16="http://schemas.microsoft.com/office/drawing/2014/main" id="{F67AFC02-46F4-E632-BC9C-D1FB4DD7545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94912" cy="233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sz="3200"/>
              </a:p>
            </p:txBody>
          </p:sp>
        </p:grpSp>
        <p:sp>
          <p:nvSpPr>
            <p:cNvPr id="82" name="TextBox 18">
              <a:extLst>
                <a:ext uri="{FF2B5EF4-FFF2-40B4-BE49-F238E27FC236}">
                  <a16:creationId xmlns:a16="http://schemas.microsoft.com/office/drawing/2014/main" id="{CE19C756-13B6-9C4A-296F-B2C1D5C7CEBC}"/>
                </a:ext>
              </a:extLst>
            </p:cNvPr>
            <p:cNvSpPr txBox="1"/>
            <p:nvPr/>
          </p:nvSpPr>
          <p:spPr>
            <a:xfrm>
              <a:off x="98643" y="415683"/>
              <a:ext cx="789455" cy="516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3200" b="1" dirty="0">
                  <a:solidFill>
                    <a:srgbClr val="FFFFFF"/>
                  </a:solidFill>
                  <a:ea typeface="Open Sans Medium"/>
                  <a:cs typeface="Open Sans Medium"/>
                  <a:sym typeface="Open Sans Medium"/>
                </a:rPr>
                <a:t>07</a:t>
              </a:r>
            </a:p>
          </p:txBody>
        </p:sp>
        <p:sp>
          <p:nvSpPr>
            <p:cNvPr id="83" name="TextBox 20">
              <a:extLst>
                <a:ext uri="{FF2B5EF4-FFF2-40B4-BE49-F238E27FC236}">
                  <a16:creationId xmlns:a16="http://schemas.microsoft.com/office/drawing/2014/main" id="{493911F2-517C-FC48-7A11-68C934CBBDEF}"/>
                </a:ext>
              </a:extLst>
            </p:cNvPr>
            <p:cNvSpPr txBox="1"/>
            <p:nvPr/>
          </p:nvSpPr>
          <p:spPr>
            <a:xfrm>
              <a:off x="1085384" y="294315"/>
              <a:ext cx="8477295" cy="892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Performance differences reflect dataset complexity, with higher accuracies on curated OASIS data and lower but realistic results on </a:t>
              </a:r>
              <a:r>
                <a:rPr lang="en-US" sz="3200" dirty="0" err="1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ADNI</a:t>
              </a:r>
              <a:r>
                <a:rPr lang="en-US" sz="3200" dirty="0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 data.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228600" y="1118949"/>
            <a:ext cx="14226698" cy="81253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Near-perfect R² values confirm that ML with proper feature engineering can deliver highly accurate tourism forecasting when applied to real-world data.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/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Ridge Regression dominates because after log-transformation, the lag-arrivals vs current-arrivals relationship is approximately linear — making L2-regularised linear regression the natural best fit.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/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The dominance of lag1_log_arrivals (93% importance) is consistent with tourism economics literature: destinations with strong brand equity maintain persistent visitor volumes year over year.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/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The COVID-19 binary feature enables models to partially adjust for the 2020 structural break. The lag features propagate the shock through subsequent years.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/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MLOps contribution: The production system achieves ML maturity Stage 4 — automated training, deployment, serving, and continuous monitoring. Median prediction latency: 12ms (p95: 28ms) — well within the 500ms alert threshold.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/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OIDC identity federation eliminates long-lived AWS credentials. GitHub Actions CI/CD averages 4min 38s from commit to deployment.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0184630-8558-6F9F-A160-6D0D42C635FB}"/>
              </a:ext>
            </a:extLst>
          </p:cNvPr>
          <p:cNvGrpSpPr/>
          <p:nvPr/>
        </p:nvGrpSpPr>
        <p:grpSpPr>
          <a:xfrm>
            <a:off x="0" y="23271"/>
            <a:ext cx="18288000" cy="1005429"/>
            <a:chOff x="0" y="23271"/>
            <a:chExt cx="18288000" cy="1005429"/>
          </a:xfrm>
        </p:grpSpPr>
        <p:grpSp>
          <p:nvGrpSpPr>
            <p:cNvPr id="16" name="Group 2">
              <a:extLst>
                <a:ext uri="{FF2B5EF4-FFF2-40B4-BE49-F238E27FC236}">
                  <a16:creationId xmlns:a16="http://schemas.microsoft.com/office/drawing/2014/main" id="{86AD8508-D402-EE88-F812-1FA85C185FD0}"/>
                </a:ext>
              </a:extLst>
            </p:cNvPr>
            <p:cNvGrpSpPr/>
            <p:nvPr/>
          </p:nvGrpSpPr>
          <p:grpSpPr>
            <a:xfrm>
              <a:off x="15882727" y="23271"/>
              <a:ext cx="2405273" cy="732655"/>
              <a:chOff x="0" y="0"/>
              <a:chExt cx="633488" cy="192963"/>
            </a:xfrm>
          </p:grpSpPr>
          <p:sp>
            <p:nvSpPr>
              <p:cNvPr id="25" name="Freeform 3">
                <a:extLst>
                  <a:ext uri="{FF2B5EF4-FFF2-40B4-BE49-F238E27FC236}">
                    <a16:creationId xmlns:a16="http://schemas.microsoft.com/office/drawing/2014/main" id="{26CDD05D-31E6-06D2-2E96-5E3F777E78D5}"/>
                  </a:ext>
                </a:extLst>
              </p:cNvPr>
              <p:cNvSpPr/>
              <p:nvPr/>
            </p:nvSpPr>
            <p:spPr>
              <a:xfrm>
                <a:off x="0" y="0"/>
                <a:ext cx="633488" cy="192963"/>
              </a:xfrm>
              <a:custGeom>
                <a:avLst/>
                <a:gdLst/>
                <a:ahLst/>
                <a:cxnLst/>
                <a:rect l="l" t="t" r="r" b="b"/>
                <a:pathLst>
                  <a:path w="633488" h="192963">
                    <a:moveTo>
                      <a:pt x="0" y="0"/>
                    </a:moveTo>
                    <a:lnTo>
                      <a:pt x="633488" y="0"/>
                    </a:lnTo>
                    <a:lnTo>
                      <a:pt x="633488" y="192963"/>
                    </a:lnTo>
                    <a:lnTo>
                      <a:pt x="0" y="19296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TextBox 4">
                <a:extLst>
                  <a:ext uri="{FF2B5EF4-FFF2-40B4-BE49-F238E27FC236}">
                    <a16:creationId xmlns:a16="http://schemas.microsoft.com/office/drawing/2014/main" id="{4AFC4494-B7A5-BC36-17B3-297BD44B502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33488" cy="2310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E3F4AF87-9D3C-5566-587D-A251D822A5FB}"/>
                </a:ext>
              </a:extLst>
            </p:cNvPr>
            <p:cNvSpPr txBox="1"/>
            <p:nvPr/>
          </p:nvSpPr>
          <p:spPr>
            <a:xfrm>
              <a:off x="4267200" y="99471"/>
              <a:ext cx="10586827" cy="929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679"/>
                </a:lnSpc>
              </a:pPr>
              <a:r>
                <a:rPr lang="en-US" sz="6399" b="1" dirty="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CONCLUSION</a:t>
              </a:r>
            </a:p>
          </p:txBody>
        </p:sp>
        <p:sp>
          <p:nvSpPr>
            <p:cNvPr id="18" name="TextBox 14">
              <a:extLst>
                <a:ext uri="{FF2B5EF4-FFF2-40B4-BE49-F238E27FC236}">
                  <a16:creationId xmlns:a16="http://schemas.microsoft.com/office/drawing/2014/main" id="{8891A5EA-34FF-82B3-F4D4-39F3FCD3AEFA}"/>
                </a:ext>
              </a:extLst>
            </p:cNvPr>
            <p:cNvSpPr txBox="1"/>
            <p:nvPr/>
          </p:nvSpPr>
          <p:spPr>
            <a:xfrm>
              <a:off x="1028700" y="192431"/>
              <a:ext cx="281232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Giggling Platypus Co.</a:t>
              </a:r>
            </a:p>
          </p:txBody>
        </p:sp>
        <p:sp>
          <p:nvSpPr>
            <p:cNvPr id="19" name="TextBox 15">
              <a:extLst>
                <a:ext uri="{FF2B5EF4-FFF2-40B4-BE49-F238E27FC236}">
                  <a16:creationId xmlns:a16="http://schemas.microsoft.com/office/drawing/2014/main" id="{07978F6E-D30C-69E3-0EB6-7D48AC90EB3A}"/>
                </a:ext>
              </a:extLst>
            </p:cNvPr>
            <p:cNvSpPr txBox="1"/>
            <p:nvPr/>
          </p:nvSpPr>
          <p:spPr>
            <a:xfrm>
              <a:off x="15882727" y="192431"/>
              <a:ext cx="137657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Page 13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9A54698-DEAF-E10D-40EE-5C36212261EC}"/>
                </a:ext>
              </a:extLst>
            </p:cNvPr>
            <p:cNvGrpSpPr/>
            <p:nvPr/>
          </p:nvGrpSpPr>
          <p:grpSpPr>
            <a:xfrm>
              <a:off x="0" y="23271"/>
              <a:ext cx="4048200" cy="732655"/>
              <a:chOff x="0" y="821440"/>
              <a:chExt cx="4048200" cy="732655"/>
            </a:xfrm>
          </p:grpSpPr>
          <p:grpSp>
            <p:nvGrpSpPr>
              <p:cNvPr id="21" name="Group 6">
                <a:extLst>
                  <a:ext uri="{FF2B5EF4-FFF2-40B4-BE49-F238E27FC236}">
                    <a16:creationId xmlns:a16="http://schemas.microsoft.com/office/drawing/2014/main" id="{27B8B741-6DF4-546E-C77D-841A7E6B9DBB}"/>
                  </a:ext>
                </a:extLst>
              </p:cNvPr>
              <p:cNvGrpSpPr/>
              <p:nvPr/>
            </p:nvGrpSpPr>
            <p:grpSpPr>
              <a:xfrm>
                <a:off x="0" y="821440"/>
                <a:ext cx="4048200" cy="732655"/>
                <a:chOff x="0" y="0"/>
                <a:chExt cx="1066193" cy="192963"/>
              </a:xfrm>
            </p:grpSpPr>
            <p:sp>
              <p:nvSpPr>
                <p:cNvPr id="23" name="Freeform 7">
                  <a:extLst>
                    <a:ext uri="{FF2B5EF4-FFF2-40B4-BE49-F238E27FC236}">
                      <a16:creationId xmlns:a16="http://schemas.microsoft.com/office/drawing/2014/main" id="{8508E1F0-6491-D860-36DF-99FE70498C7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66193" cy="192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193" h="192963">
                      <a:moveTo>
                        <a:pt x="0" y="0"/>
                      </a:moveTo>
                      <a:lnTo>
                        <a:pt x="1066193" y="0"/>
                      </a:lnTo>
                      <a:lnTo>
                        <a:pt x="1066193" y="192963"/>
                      </a:lnTo>
                      <a:lnTo>
                        <a:pt x="0" y="192963"/>
                      </a:lnTo>
                      <a:close/>
                    </a:path>
                  </a:pathLst>
                </a:custGeom>
                <a:solidFill>
                  <a:srgbClr val="C2410A"/>
                </a:solidFill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4" name="TextBox 8">
                  <a:extLst>
                    <a:ext uri="{FF2B5EF4-FFF2-40B4-BE49-F238E27FC236}">
                      <a16:creationId xmlns:a16="http://schemas.microsoft.com/office/drawing/2014/main" id="{CD0228D0-9F0A-4A5B-A50A-82BD60CC5FDE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066193" cy="23106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940"/>
                    </a:lnSpc>
                  </a:pPr>
                  <a:endParaRPr/>
                </a:p>
              </p:txBody>
            </p:sp>
          </p:grpSp>
          <p:sp>
            <p:nvSpPr>
              <p:cNvPr id="22" name="TextBox 16">
                <a:extLst>
                  <a:ext uri="{FF2B5EF4-FFF2-40B4-BE49-F238E27FC236}">
                    <a16:creationId xmlns:a16="http://schemas.microsoft.com/office/drawing/2014/main" id="{2AEB569A-D5C7-4381-8BDF-B46560697741}"/>
                  </a:ext>
                </a:extLst>
              </p:cNvPr>
              <p:cNvSpPr txBox="1"/>
              <p:nvPr/>
            </p:nvSpPr>
            <p:spPr>
              <a:xfrm>
                <a:off x="1028700" y="990600"/>
                <a:ext cx="2812323" cy="35623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940"/>
                  </a:lnSpc>
                  <a:spcBef>
                    <a:spcPct val="0"/>
                  </a:spcBef>
                </a:pPr>
                <a:r>
                  <a:rPr lang="en-US" sz="2100" b="1" dirty="0">
                    <a:solidFill>
                      <a:srgbClr val="FFFFFF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Ulster University</a:t>
                </a:r>
              </a:p>
            </p:txBody>
          </p:sp>
        </p:grp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7AD2B527-3A2A-38B3-B7DE-5DE7B5A33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1279" y="2933700"/>
            <a:ext cx="4495800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36B29-9AAA-0AD9-6467-EBD23A4D8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>
            <a:extLst>
              <a:ext uri="{FF2B5EF4-FFF2-40B4-BE49-F238E27FC236}">
                <a16:creationId xmlns:a16="http://schemas.microsoft.com/office/drawing/2014/main" id="{9F6E8388-C9BF-3233-9A03-17C0B7E062A6}"/>
              </a:ext>
            </a:extLst>
          </p:cNvPr>
          <p:cNvSpPr txBox="1"/>
          <p:nvPr/>
        </p:nvSpPr>
        <p:spPr>
          <a:xfrm>
            <a:off x="304800" y="1479774"/>
            <a:ext cx="12855098" cy="58330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CONCLUSION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✔  Ridge Regression R²=1.0000 · Gradient Boosting R²=0.9992 · Random Forest R²=0.9976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✔  25-year World Bank panel data (200+ countries) with rigorous preprocessing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✔  Lag features dominate: lag1_log_arrivals = 93% of feature importance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✔  Production MLOps: FastAPI · Docker · GitHub Actions · AWS ECS Fargate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✔  Prometheus + Grafana with 4 automated alert rules and Slack notifications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✔  7 operational runbooks covering deployment, incidents, scaling, and secrets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/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FUTURE WORK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▸  LSTM / Transformer models for long-range temporal dependencies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▸  Additional covariates: air connectivity indices, social media sentiment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▸  Scenario-based forecasting for climate change and pandemic disruptions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▸  Country-specific model fine-tuning and ensemble stacking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▸  Real-time streaming data pipeline (Kafka / AWS Kinesis)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▸  MLflow / DVC for model versioning and experiment tracking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DB36931-A24A-87DC-52A9-FABFA94734C1}"/>
              </a:ext>
            </a:extLst>
          </p:cNvPr>
          <p:cNvGrpSpPr/>
          <p:nvPr/>
        </p:nvGrpSpPr>
        <p:grpSpPr>
          <a:xfrm>
            <a:off x="0" y="23271"/>
            <a:ext cx="18288000" cy="929229"/>
            <a:chOff x="0" y="23271"/>
            <a:chExt cx="18288000" cy="929229"/>
          </a:xfrm>
        </p:grpSpPr>
        <p:grpSp>
          <p:nvGrpSpPr>
            <p:cNvPr id="16" name="Group 2">
              <a:extLst>
                <a:ext uri="{FF2B5EF4-FFF2-40B4-BE49-F238E27FC236}">
                  <a16:creationId xmlns:a16="http://schemas.microsoft.com/office/drawing/2014/main" id="{7DBA3639-692C-F0BC-EA72-3B3505EEF6C3}"/>
                </a:ext>
              </a:extLst>
            </p:cNvPr>
            <p:cNvGrpSpPr/>
            <p:nvPr/>
          </p:nvGrpSpPr>
          <p:grpSpPr>
            <a:xfrm>
              <a:off x="15882727" y="23271"/>
              <a:ext cx="2405273" cy="732655"/>
              <a:chOff x="0" y="0"/>
              <a:chExt cx="633488" cy="192963"/>
            </a:xfrm>
          </p:grpSpPr>
          <p:sp>
            <p:nvSpPr>
              <p:cNvPr id="25" name="Freeform 3">
                <a:extLst>
                  <a:ext uri="{FF2B5EF4-FFF2-40B4-BE49-F238E27FC236}">
                    <a16:creationId xmlns:a16="http://schemas.microsoft.com/office/drawing/2014/main" id="{01FA5568-2F0F-67DC-1803-6DACDBAA487C}"/>
                  </a:ext>
                </a:extLst>
              </p:cNvPr>
              <p:cNvSpPr/>
              <p:nvPr/>
            </p:nvSpPr>
            <p:spPr>
              <a:xfrm>
                <a:off x="0" y="0"/>
                <a:ext cx="633488" cy="192963"/>
              </a:xfrm>
              <a:custGeom>
                <a:avLst/>
                <a:gdLst/>
                <a:ahLst/>
                <a:cxnLst/>
                <a:rect l="l" t="t" r="r" b="b"/>
                <a:pathLst>
                  <a:path w="633488" h="192963">
                    <a:moveTo>
                      <a:pt x="0" y="0"/>
                    </a:moveTo>
                    <a:lnTo>
                      <a:pt x="633488" y="0"/>
                    </a:lnTo>
                    <a:lnTo>
                      <a:pt x="633488" y="192963"/>
                    </a:lnTo>
                    <a:lnTo>
                      <a:pt x="0" y="19296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TextBox 4">
                <a:extLst>
                  <a:ext uri="{FF2B5EF4-FFF2-40B4-BE49-F238E27FC236}">
                    <a16:creationId xmlns:a16="http://schemas.microsoft.com/office/drawing/2014/main" id="{FA380FC6-F3FD-7A54-0D0F-31297CA58CB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33488" cy="2310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6F153405-3B98-DEB2-080F-02BBA5C34951}"/>
                </a:ext>
              </a:extLst>
            </p:cNvPr>
            <p:cNvSpPr txBox="1"/>
            <p:nvPr/>
          </p:nvSpPr>
          <p:spPr>
            <a:xfrm>
              <a:off x="4267199" y="23271"/>
              <a:ext cx="10586827" cy="929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679"/>
                </a:lnSpc>
              </a:pPr>
              <a:r>
                <a:rPr lang="en-US" sz="6399" b="1" dirty="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FUTURE WORK</a:t>
              </a:r>
            </a:p>
          </p:txBody>
        </p:sp>
        <p:sp>
          <p:nvSpPr>
            <p:cNvPr id="18" name="TextBox 14">
              <a:extLst>
                <a:ext uri="{FF2B5EF4-FFF2-40B4-BE49-F238E27FC236}">
                  <a16:creationId xmlns:a16="http://schemas.microsoft.com/office/drawing/2014/main" id="{3AC262D9-84EF-6EFE-0B27-DF6DE9D52F69}"/>
                </a:ext>
              </a:extLst>
            </p:cNvPr>
            <p:cNvSpPr txBox="1"/>
            <p:nvPr/>
          </p:nvSpPr>
          <p:spPr>
            <a:xfrm>
              <a:off x="1028700" y="192431"/>
              <a:ext cx="281232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Giggling Platypus Co.</a:t>
              </a:r>
            </a:p>
          </p:txBody>
        </p:sp>
        <p:sp>
          <p:nvSpPr>
            <p:cNvPr id="19" name="TextBox 15">
              <a:extLst>
                <a:ext uri="{FF2B5EF4-FFF2-40B4-BE49-F238E27FC236}">
                  <a16:creationId xmlns:a16="http://schemas.microsoft.com/office/drawing/2014/main" id="{2194137B-8817-FD95-AA57-71B0C57A79B8}"/>
                </a:ext>
              </a:extLst>
            </p:cNvPr>
            <p:cNvSpPr txBox="1"/>
            <p:nvPr/>
          </p:nvSpPr>
          <p:spPr>
            <a:xfrm>
              <a:off x="15882727" y="192431"/>
              <a:ext cx="137657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Page 14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1E2896A-3DD9-1BAB-C44C-8608BF2F7C6C}"/>
                </a:ext>
              </a:extLst>
            </p:cNvPr>
            <p:cNvGrpSpPr/>
            <p:nvPr/>
          </p:nvGrpSpPr>
          <p:grpSpPr>
            <a:xfrm>
              <a:off x="0" y="23271"/>
              <a:ext cx="4048200" cy="732655"/>
              <a:chOff x="0" y="821440"/>
              <a:chExt cx="4048200" cy="732655"/>
            </a:xfrm>
          </p:grpSpPr>
          <p:grpSp>
            <p:nvGrpSpPr>
              <p:cNvPr id="21" name="Group 6">
                <a:extLst>
                  <a:ext uri="{FF2B5EF4-FFF2-40B4-BE49-F238E27FC236}">
                    <a16:creationId xmlns:a16="http://schemas.microsoft.com/office/drawing/2014/main" id="{0C80BBDD-EB83-49A1-8EEE-CA29AC7D5F3B}"/>
                  </a:ext>
                </a:extLst>
              </p:cNvPr>
              <p:cNvGrpSpPr/>
              <p:nvPr/>
            </p:nvGrpSpPr>
            <p:grpSpPr>
              <a:xfrm>
                <a:off x="0" y="821440"/>
                <a:ext cx="4048200" cy="732655"/>
                <a:chOff x="0" y="0"/>
                <a:chExt cx="1066193" cy="192963"/>
              </a:xfrm>
            </p:grpSpPr>
            <p:sp>
              <p:nvSpPr>
                <p:cNvPr id="23" name="Freeform 7">
                  <a:extLst>
                    <a:ext uri="{FF2B5EF4-FFF2-40B4-BE49-F238E27FC236}">
                      <a16:creationId xmlns:a16="http://schemas.microsoft.com/office/drawing/2014/main" id="{F2CEA6D5-A588-D0BF-F470-8954DC707CF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66193" cy="192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193" h="192963">
                      <a:moveTo>
                        <a:pt x="0" y="0"/>
                      </a:moveTo>
                      <a:lnTo>
                        <a:pt x="1066193" y="0"/>
                      </a:lnTo>
                      <a:lnTo>
                        <a:pt x="1066193" y="192963"/>
                      </a:lnTo>
                      <a:lnTo>
                        <a:pt x="0" y="192963"/>
                      </a:lnTo>
                      <a:close/>
                    </a:path>
                  </a:pathLst>
                </a:custGeom>
                <a:solidFill>
                  <a:srgbClr val="C2410A"/>
                </a:solidFill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4" name="TextBox 8">
                  <a:extLst>
                    <a:ext uri="{FF2B5EF4-FFF2-40B4-BE49-F238E27FC236}">
                      <a16:creationId xmlns:a16="http://schemas.microsoft.com/office/drawing/2014/main" id="{270D91D1-120D-B90B-2CB7-DC31180FC669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066193" cy="23106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940"/>
                    </a:lnSpc>
                  </a:pPr>
                  <a:endParaRPr/>
                </a:p>
              </p:txBody>
            </p:sp>
          </p:grpSp>
          <p:sp>
            <p:nvSpPr>
              <p:cNvPr id="22" name="TextBox 16">
                <a:extLst>
                  <a:ext uri="{FF2B5EF4-FFF2-40B4-BE49-F238E27FC236}">
                    <a16:creationId xmlns:a16="http://schemas.microsoft.com/office/drawing/2014/main" id="{3C105989-A46E-C4C7-8A36-965EA36D20CB}"/>
                  </a:ext>
                </a:extLst>
              </p:cNvPr>
              <p:cNvSpPr txBox="1"/>
              <p:nvPr/>
            </p:nvSpPr>
            <p:spPr>
              <a:xfrm>
                <a:off x="1028700" y="990600"/>
                <a:ext cx="2812323" cy="35623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940"/>
                  </a:lnSpc>
                  <a:spcBef>
                    <a:spcPct val="0"/>
                  </a:spcBef>
                </a:pPr>
                <a:r>
                  <a:rPr lang="en-US" sz="2100" b="1" dirty="0">
                    <a:solidFill>
                      <a:srgbClr val="FFFFFF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Ulster University</a:t>
                </a:r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B4FF1B4-2CC8-A460-E3B5-F76E98BEE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1866900"/>
            <a:ext cx="5181598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262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07995-8C0A-4A70-A975-41707FD23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>
            <a:extLst>
              <a:ext uri="{FF2B5EF4-FFF2-40B4-BE49-F238E27FC236}">
                <a16:creationId xmlns:a16="http://schemas.microsoft.com/office/drawing/2014/main" id="{67437EBD-E92F-BC34-1728-872E3E54C099}"/>
              </a:ext>
            </a:extLst>
          </p:cNvPr>
          <p:cNvSpPr txBox="1"/>
          <p:nvPr/>
        </p:nvSpPr>
        <p:spPr>
          <a:xfrm>
            <a:off x="251302" y="1121660"/>
            <a:ext cx="17731897" cy="8863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[1]  UNWTO, International Tourism Highlights 2020 Edition, Madrid, Spain, 2020.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[2]  H. Song, G. Li, S. Witt, Tourism demand modelling and forecasting, Tourism Economics, vol. 16, no. 1, pp. 19-31, 2010.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[3]  G. Li, H. Song, Data science and tourism: Big data approaches, Journal of Travel Research, vol. 59, no. 6, pp. 923-935, 2020.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[4]  S. Cankurt, A. Subasi, Developing tourism demand forecasting models using ML, Balkan J. Elec. Comput. Eng., vol. 4, no. 1, 2016.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[5]  S. Sun et al., Forecasting tourist arrivals with ML and internet search index, Tourism Management, vol. 70, pp. 1-10, 2019.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[6]  T. Chen, C. Guestrin, XGBoost: A scalable tree boosting system, Proc. KDD, pp. 785-794, 2016.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[7]  D. Sculley et al., Hidden technical debt in ML systems, NeurIPS, vol. 28, 2015.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[8]  D. Kreuzberger et al., Machine learning operations (MLOps): Overview, IEEE Access, vol. 11, pp. 31866-31879, 2023.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[9]  U. Gunter, I. Onder, Forecasting international city tourism demand, Tourism Management, vol. 46, pp. 123-135, 2015.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[10] World Bank, Tourism and Economic Impact Dataset (1999-2023), Kaggle, 2024. kaggle.com/datasets/bushraqurban/tourism-and-economic-impact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[11] J. H. Friedman, Greedy function approximation: A gradient boosting machine, Ann. Statistics, vol. 29, no. 5, pp. 1189-1232, 2001.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[12] L. Breiman, Random forests, Machine Learning, vol. 45, no. 1, pp. 5-32, 2001.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89EBD16-532C-ADCA-B2FC-9E3B855DF6E4}"/>
              </a:ext>
            </a:extLst>
          </p:cNvPr>
          <p:cNvGrpSpPr/>
          <p:nvPr/>
        </p:nvGrpSpPr>
        <p:grpSpPr>
          <a:xfrm>
            <a:off x="0" y="23271"/>
            <a:ext cx="18288000" cy="929229"/>
            <a:chOff x="0" y="23271"/>
            <a:chExt cx="18288000" cy="929229"/>
          </a:xfrm>
        </p:grpSpPr>
        <p:grpSp>
          <p:nvGrpSpPr>
            <p:cNvPr id="16" name="Group 2">
              <a:extLst>
                <a:ext uri="{FF2B5EF4-FFF2-40B4-BE49-F238E27FC236}">
                  <a16:creationId xmlns:a16="http://schemas.microsoft.com/office/drawing/2014/main" id="{2ABD18FC-E797-DA78-D802-828D8C872072}"/>
                </a:ext>
              </a:extLst>
            </p:cNvPr>
            <p:cNvGrpSpPr/>
            <p:nvPr/>
          </p:nvGrpSpPr>
          <p:grpSpPr>
            <a:xfrm>
              <a:off x="15882727" y="23271"/>
              <a:ext cx="2405273" cy="732655"/>
              <a:chOff x="0" y="0"/>
              <a:chExt cx="633488" cy="192963"/>
            </a:xfrm>
          </p:grpSpPr>
          <p:sp>
            <p:nvSpPr>
              <p:cNvPr id="25" name="Freeform 3">
                <a:extLst>
                  <a:ext uri="{FF2B5EF4-FFF2-40B4-BE49-F238E27FC236}">
                    <a16:creationId xmlns:a16="http://schemas.microsoft.com/office/drawing/2014/main" id="{83F58746-8636-A01C-AC7C-31F333B22A29}"/>
                  </a:ext>
                </a:extLst>
              </p:cNvPr>
              <p:cNvSpPr/>
              <p:nvPr/>
            </p:nvSpPr>
            <p:spPr>
              <a:xfrm>
                <a:off x="0" y="0"/>
                <a:ext cx="633488" cy="192963"/>
              </a:xfrm>
              <a:custGeom>
                <a:avLst/>
                <a:gdLst/>
                <a:ahLst/>
                <a:cxnLst/>
                <a:rect l="l" t="t" r="r" b="b"/>
                <a:pathLst>
                  <a:path w="633488" h="192963">
                    <a:moveTo>
                      <a:pt x="0" y="0"/>
                    </a:moveTo>
                    <a:lnTo>
                      <a:pt x="633488" y="0"/>
                    </a:lnTo>
                    <a:lnTo>
                      <a:pt x="633488" y="192963"/>
                    </a:lnTo>
                    <a:lnTo>
                      <a:pt x="0" y="19296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TextBox 4">
                <a:extLst>
                  <a:ext uri="{FF2B5EF4-FFF2-40B4-BE49-F238E27FC236}">
                    <a16:creationId xmlns:a16="http://schemas.microsoft.com/office/drawing/2014/main" id="{667F35CC-9206-12EF-9735-7369EF59B55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33488" cy="2310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28E5F62A-B521-DF23-A05A-C796652A4791}"/>
                </a:ext>
              </a:extLst>
            </p:cNvPr>
            <p:cNvSpPr txBox="1"/>
            <p:nvPr/>
          </p:nvSpPr>
          <p:spPr>
            <a:xfrm>
              <a:off x="4267199" y="23271"/>
              <a:ext cx="10586827" cy="929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679"/>
                </a:lnSpc>
              </a:pPr>
              <a:r>
                <a:rPr lang="en-US" sz="6399" b="1" dirty="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REFERENCES</a:t>
              </a:r>
            </a:p>
          </p:txBody>
        </p:sp>
        <p:sp>
          <p:nvSpPr>
            <p:cNvPr id="18" name="TextBox 14">
              <a:extLst>
                <a:ext uri="{FF2B5EF4-FFF2-40B4-BE49-F238E27FC236}">
                  <a16:creationId xmlns:a16="http://schemas.microsoft.com/office/drawing/2014/main" id="{7A8C92CA-8A5E-6807-D29C-27407652A603}"/>
                </a:ext>
              </a:extLst>
            </p:cNvPr>
            <p:cNvSpPr txBox="1"/>
            <p:nvPr/>
          </p:nvSpPr>
          <p:spPr>
            <a:xfrm>
              <a:off x="1028700" y="192431"/>
              <a:ext cx="281232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Giggling Platypus Co.</a:t>
              </a:r>
            </a:p>
          </p:txBody>
        </p:sp>
        <p:sp>
          <p:nvSpPr>
            <p:cNvPr id="19" name="TextBox 15">
              <a:extLst>
                <a:ext uri="{FF2B5EF4-FFF2-40B4-BE49-F238E27FC236}">
                  <a16:creationId xmlns:a16="http://schemas.microsoft.com/office/drawing/2014/main" id="{A0BC7CDC-221C-F404-1DF9-B01F62482468}"/>
                </a:ext>
              </a:extLst>
            </p:cNvPr>
            <p:cNvSpPr txBox="1"/>
            <p:nvPr/>
          </p:nvSpPr>
          <p:spPr>
            <a:xfrm>
              <a:off x="15882727" y="192431"/>
              <a:ext cx="137657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Page 15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AA5A068-673C-7DA9-080E-54F86CF6668E}"/>
                </a:ext>
              </a:extLst>
            </p:cNvPr>
            <p:cNvGrpSpPr/>
            <p:nvPr/>
          </p:nvGrpSpPr>
          <p:grpSpPr>
            <a:xfrm>
              <a:off x="0" y="23271"/>
              <a:ext cx="4048200" cy="732655"/>
              <a:chOff x="0" y="821440"/>
              <a:chExt cx="4048200" cy="732655"/>
            </a:xfrm>
          </p:grpSpPr>
          <p:grpSp>
            <p:nvGrpSpPr>
              <p:cNvPr id="21" name="Group 6">
                <a:extLst>
                  <a:ext uri="{FF2B5EF4-FFF2-40B4-BE49-F238E27FC236}">
                    <a16:creationId xmlns:a16="http://schemas.microsoft.com/office/drawing/2014/main" id="{48BCFE6C-4653-9E5A-E6A3-995AD0A141E0}"/>
                  </a:ext>
                </a:extLst>
              </p:cNvPr>
              <p:cNvGrpSpPr/>
              <p:nvPr/>
            </p:nvGrpSpPr>
            <p:grpSpPr>
              <a:xfrm>
                <a:off x="0" y="821440"/>
                <a:ext cx="4048200" cy="732655"/>
                <a:chOff x="0" y="0"/>
                <a:chExt cx="1066193" cy="192963"/>
              </a:xfrm>
            </p:grpSpPr>
            <p:sp>
              <p:nvSpPr>
                <p:cNvPr id="23" name="Freeform 7">
                  <a:extLst>
                    <a:ext uri="{FF2B5EF4-FFF2-40B4-BE49-F238E27FC236}">
                      <a16:creationId xmlns:a16="http://schemas.microsoft.com/office/drawing/2014/main" id="{064DC0BB-C6CE-5EDE-CAC0-B2977F9915F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66193" cy="192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193" h="192963">
                      <a:moveTo>
                        <a:pt x="0" y="0"/>
                      </a:moveTo>
                      <a:lnTo>
                        <a:pt x="1066193" y="0"/>
                      </a:lnTo>
                      <a:lnTo>
                        <a:pt x="1066193" y="192963"/>
                      </a:lnTo>
                      <a:lnTo>
                        <a:pt x="0" y="192963"/>
                      </a:lnTo>
                      <a:close/>
                    </a:path>
                  </a:pathLst>
                </a:custGeom>
                <a:solidFill>
                  <a:srgbClr val="C2410A"/>
                </a:solidFill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4" name="TextBox 8">
                  <a:extLst>
                    <a:ext uri="{FF2B5EF4-FFF2-40B4-BE49-F238E27FC236}">
                      <a16:creationId xmlns:a16="http://schemas.microsoft.com/office/drawing/2014/main" id="{2E16CC4E-B740-5A29-7114-FC13DD15160C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066193" cy="23106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940"/>
                    </a:lnSpc>
                  </a:pPr>
                  <a:endParaRPr/>
                </a:p>
              </p:txBody>
            </p:sp>
          </p:grpSp>
          <p:sp>
            <p:nvSpPr>
              <p:cNvPr id="22" name="TextBox 16">
                <a:extLst>
                  <a:ext uri="{FF2B5EF4-FFF2-40B4-BE49-F238E27FC236}">
                    <a16:creationId xmlns:a16="http://schemas.microsoft.com/office/drawing/2014/main" id="{3879B924-7D63-61B8-D0B1-2F3793393815}"/>
                  </a:ext>
                </a:extLst>
              </p:cNvPr>
              <p:cNvSpPr txBox="1"/>
              <p:nvPr/>
            </p:nvSpPr>
            <p:spPr>
              <a:xfrm>
                <a:off x="1028700" y="990600"/>
                <a:ext cx="2812323" cy="35623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940"/>
                  </a:lnSpc>
                  <a:spcBef>
                    <a:spcPct val="0"/>
                  </a:spcBef>
                </a:pPr>
                <a:r>
                  <a:rPr lang="en-US" sz="2100" b="1" dirty="0">
                    <a:solidFill>
                      <a:srgbClr val="FFFFFF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Ulster University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6331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97BE329B-998D-40C3-99ED-1AD4C10DE3EC}"/>
              </a:ext>
            </a:extLst>
          </p:cNvPr>
          <p:cNvGrpSpPr/>
          <p:nvPr/>
        </p:nvGrpSpPr>
        <p:grpSpPr>
          <a:xfrm>
            <a:off x="0" y="23271"/>
            <a:ext cx="18288000" cy="732655"/>
            <a:chOff x="0" y="23271"/>
            <a:chExt cx="18288000" cy="732655"/>
          </a:xfrm>
        </p:grpSpPr>
        <p:grpSp>
          <p:nvGrpSpPr>
            <p:cNvPr id="32" name="Group 2">
              <a:extLst>
                <a:ext uri="{FF2B5EF4-FFF2-40B4-BE49-F238E27FC236}">
                  <a16:creationId xmlns:a16="http://schemas.microsoft.com/office/drawing/2014/main" id="{B70C0A67-CC17-7296-C471-979297850BEC}"/>
                </a:ext>
              </a:extLst>
            </p:cNvPr>
            <p:cNvGrpSpPr/>
            <p:nvPr/>
          </p:nvGrpSpPr>
          <p:grpSpPr>
            <a:xfrm>
              <a:off x="15882727" y="23271"/>
              <a:ext cx="2405273" cy="732655"/>
              <a:chOff x="0" y="0"/>
              <a:chExt cx="633488" cy="192963"/>
            </a:xfrm>
          </p:grpSpPr>
          <p:sp>
            <p:nvSpPr>
              <p:cNvPr id="41" name="Freeform 3">
                <a:extLst>
                  <a:ext uri="{FF2B5EF4-FFF2-40B4-BE49-F238E27FC236}">
                    <a16:creationId xmlns:a16="http://schemas.microsoft.com/office/drawing/2014/main" id="{3505F317-76BA-2DDE-C7B0-93EAA53AE723}"/>
                  </a:ext>
                </a:extLst>
              </p:cNvPr>
              <p:cNvSpPr/>
              <p:nvPr/>
            </p:nvSpPr>
            <p:spPr>
              <a:xfrm>
                <a:off x="0" y="0"/>
                <a:ext cx="633488" cy="192963"/>
              </a:xfrm>
              <a:custGeom>
                <a:avLst/>
                <a:gdLst/>
                <a:ahLst/>
                <a:cxnLst/>
                <a:rect l="l" t="t" r="r" b="b"/>
                <a:pathLst>
                  <a:path w="633488" h="192963">
                    <a:moveTo>
                      <a:pt x="0" y="0"/>
                    </a:moveTo>
                    <a:lnTo>
                      <a:pt x="633488" y="0"/>
                    </a:lnTo>
                    <a:lnTo>
                      <a:pt x="633488" y="192963"/>
                    </a:lnTo>
                    <a:lnTo>
                      <a:pt x="0" y="192963"/>
                    </a:lnTo>
                    <a:close/>
                  </a:path>
                </a:pathLst>
              </a:custGeom>
              <a:solidFill>
                <a:srgbClr val="C2410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TextBox 4">
                <a:extLst>
                  <a:ext uri="{FF2B5EF4-FFF2-40B4-BE49-F238E27FC236}">
                    <a16:creationId xmlns:a16="http://schemas.microsoft.com/office/drawing/2014/main" id="{9FB4F5D9-C540-980E-F70A-3047A00C6D8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33488" cy="2310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34" name="TextBox 14">
              <a:extLst>
                <a:ext uri="{FF2B5EF4-FFF2-40B4-BE49-F238E27FC236}">
                  <a16:creationId xmlns:a16="http://schemas.microsoft.com/office/drawing/2014/main" id="{011F7F9B-A797-9B05-2830-45E721DF34F4}"/>
                </a:ext>
              </a:extLst>
            </p:cNvPr>
            <p:cNvSpPr txBox="1"/>
            <p:nvPr/>
          </p:nvSpPr>
          <p:spPr>
            <a:xfrm>
              <a:off x="1028700" y="192431"/>
              <a:ext cx="281232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Giggling Platypus Co.</a:t>
              </a:r>
            </a:p>
          </p:txBody>
        </p:sp>
        <p:sp>
          <p:nvSpPr>
            <p:cNvPr id="35" name="TextBox 15">
              <a:extLst>
                <a:ext uri="{FF2B5EF4-FFF2-40B4-BE49-F238E27FC236}">
                  <a16:creationId xmlns:a16="http://schemas.microsoft.com/office/drawing/2014/main" id="{653D666D-1773-C691-5B32-D7A239101CDB}"/>
                </a:ext>
              </a:extLst>
            </p:cNvPr>
            <p:cNvSpPr txBox="1"/>
            <p:nvPr/>
          </p:nvSpPr>
          <p:spPr>
            <a:xfrm>
              <a:off x="15882727" y="192431"/>
              <a:ext cx="1376573" cy="356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Page 16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3FFBC9F-DD41-C8D7-A5A7-265EA27DDE5B}"/>
                </a:ext>
              </a:extLst>
            </p:cNvPr>
            <p:cNvGrpSpPr/>
            <p:nvPr/>
          </p:nvGrpSpPr>
          <p:grpSpPr>
            <a:xfrm>
              <a:off x="0" y="23271"/>
              <a:ext cx="4048200" cy="732655"/>
              <a:chOff x="0" y="821440"/>
              <a:chExt cx="4048200" cy="732655"/>
            </a:xfrm>
          </p:grpSpPr>
          <p:grpSp>
            <p:nvGrpSpPr>
              <p:cNvPr id="37" name="Group 6">
                <a:extLst>
                  <a:ext uri="{FF2B5EF4-FFF2-40B4-BE49-F238E27FC236}">
                    <a16:creationId xmlns:a16="http://schemas.microsoft.com/office/drawing/2014/main" id="{2CABBEFA-679E-93AE-F03B-C5B70EB689AD}"/>
                  </a:ext>
                </a:extLst>
              </p:cNvPr>
              <p:cNvGrpSpPr/>
              <p:nvPr/>
            </p:nvGrpSpPr>
            <p:grpSpPr>
              <a:xfrm>
                <a:off x="0" y="821440"/>
                <a:ext cx="4048200" cy="732655"/>
                <a:chOff x="0" y="0"/>
                <a:chExt cx="1066193" cy="192963"/>
              </a:xfrm>
            </p:grpSpPr>
            <p:sp>
              <p:nvSpPr>
                <p:cNvPr id="39" name="Freeform 7">
                  <a:extLst>
                    <a:ext uri="{FF2B5EF4-FFF2-40B4-BE49-F238E27FC236}">
                      <a16:creationId xmlns:a16="http://schemas.microsoft.com/office/drawing/2014/main" id="{BB280517-D50F-604F-C2AF-4B6FAE2613E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66193" cy="192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193" h="192963">
                      <a:moveTo>
                        <a:pt x="0" y="0"/>
                      </a:moveTo>
                      <a:lnTo>
                        <a:pt x="1066193" y="0"/>
                      </a:lnTo>
                      <a:lnTo>
                        <a:pt x="1066193" y="192963"/>
                      </a:lnTo>
                      <a:lnTo>
                        <a:pt x="0" y="192963"/>
                      </a:lnTo>
                      <a:close/>
                    </a:path>
                  </a:pathLst>
                </a:custGeom>
                <a:solidFill>
                  <a:srgbClr val="C2410A"/>
                </a:solidFill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0" name="TextBox 8">
                  <a:extLst>
                    <a:ext uri="{FF2B5EF4-FFF2-40B4-BE49-F238E27FC236}">
                      <a16:creationId xmlns:a16="http://schemas.microsoft.com/office/drawing/2014/main" id="{A87868BD-9768-63C5-B567-B00CA6AFB569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066193" cy="23106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940"/>
                    </a:lnSpc>
                  </a:pPr>
                  <a:endParaRPr/>
                </a:p>
              </p:txBody>
            </p:sp>
          </p:grpSp>
          <p:sp>
            <p:nvSpPr>
              <p:cNvPr id="38" name="TextBox 16">
                <a:extLst>
                  <a:ext uri="{FF2B5EF4-FFF2-40B4-BE49-F238E27FC236}">
                    <a16:creationId xmlns:a16="http://schemas.microsoft.com/office/drawing/2014/main" id="{E7E0D092-7749-A161-D1FD-282FA4BE7F47}"/>
                  </a:ext>
                </a:extLst>
              </p:cNvPr>
              <p:cNvSpPr txBox="1"/>
              <p:nvPr/>
            </p:nvSpPr>
            <p:spPr>
              <a:xfrm>
                <a:off x="1028700" y="990600"/>
                <a:ext cx="2812323" cy="35623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2940"/>
                  </a:lnSpc>
                  <a:spcBef>
                    <a:spcPct val="0"/>
                  </a:spcBef>
                </a:pPr>
                <a:r>
                  <a:rPr lang="en-US" sz="2100" b="1">
                    <a:solidFill>
                      <a:srgbClr val="FFFFFF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 University of Ulster</a:t>
                </a:r>
                <a:endParaRPr lang="en-US" sz="2100" b="1" dirty="0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endParaRPr>
              </a:p>
            </p:txBody>
          </p:sp>
        </p:grp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9181FD25-4DEF-8D58-357E-A9CC544A0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333500"/>
            <a:ext cx="7696200" cy="769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2174</Words>
  <Application>Microsoft Office PowerPoint</Application>
  <PresentationFormat>Custom</PresentationFormat>
  <Paragraphs>248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Open Sans</vt:lpstr>
      <vt:lpstr>Calibri</vt:lpstr>
      <vt:lpstr>Times New Roman</vt:lpstr>
      <vt:lpstr>Arial</vt:lpstr>
      <vt:lpstr>Open Sans Medium</vt:lpstr>
      <vt:lpstr>Open Sauce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Research Presentation</dc:title>
  <dc:creator>Talha Ahmad</dc:creator>
  <cp:lastModifiedBy>Hasan, Mohammed</cp:lastModifiedBy>
  <cp:revision>50</cp:revision>
  <dcterms:created xsi:type="dcterms:W3CDTF">2006-08-16T00:00:00Z</dcterms:created>
  <dcterms:modified xsi:type="dcterms:W3CDTF">2026-03-05T14:27:32Z</dcterms:modified>
  <dc:identifier>DAG8IojNAIc</dc:identifier>
</cp:coreProperties>
</file>